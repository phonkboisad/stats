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314" r:id="rId5"/>
    <p:sldId id="315" r:id="rId6"/>
    <p:sldId id="260" r:id="rId7"/>
    <p:sldId id="261" r:id="rId8"/>
    <p:sldId id="262" r:id="rId9"/>
    <p:sldId id="263" r:id="rId10"/>
    <p:sldId id="264" r:id="rId11"/>
    <p:sldId id="265" r:id="rId12"/>
    <p:sldId id="266" r:id="rId13"/>
    <p:sldId id="277" r:id="rId14"/>
    <p:sldId id="279" r:id="rId15"/>
    <p:sldId id="281" r:id="rId16"/>
    <p:sldId id="283" r:id="rId17"/>
    <p:sldId id="284" r:id="rId18"/>
    <p:sldId id="285" r:id="rId19"/>
    <p:sldId id="286" r:id="rId20"/>
    <p:sldId id="321" r:id="rId21"/>
    <p:sldId id="322" r:id="rId22"/>
    <p:sldId id="316" r:id="rId23"/>
    <p:sldId id="287" r:id="rId24"/>
    <p:sldId id="317" r:id="rId25"/>
    <p:sldId id="318" r:id="rId26"/>
    <p:sldId id="319" r:id="rId27"/>
    <p:sldId id="320" r:id="rId28"/>
    <p:sldId id="30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93" autoAdjust="0"/>
  </p:normalViewPr>
  <p:slideViewPr>
    <p:cSldViewPr>
      <p:cViewPr varScale="1">
        <p:scale>
          <a:sx n="76" d="100"/>
          <a:sy n="76" d="100"/>
        </p:scale>
        <p:origin x="-1642" y="-8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4C624C-B899-4571-8B00-C90DC0325532}"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4C624C-B899-4571-8B00-C90DC0325532}"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4C624C-B899-4571-8B00-C90DC0325532}" type="datetimeFigureOut">
              <a:rPr lang="en-US" smtClean="0"/>
              <a:pPr/>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4C624C-B899-4571-8B00-C90DC0325532}" type="datetimeFigureOut">
              <a:rPr lang="en-US" smtClean="0"/>
              <a:pPr/>
              <a:t>9/6/2025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4C624C-B899-4571-8B00-C90DC0325532}" type="datetimeFigureOut">
              <a:rPr lang="en-US" smtClean="0"/>
              <a:pPr/>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4C624C-B899-4571-8B00-C90DC0325532}"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4C624C-B899-4571-8B00-C90DC0325532}"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C624C-B899-4571-8B00-C90DC0325532}" type="datetimeFigureOut">
              <a:rPr lang="en-US" smtClean="0"/>
              <a:pPr/>
              <a:t>9/6/2025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EDC26C-DE9F-44E9-BD69-D3FB988A6D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4.png"/><Relationship Id="rId7" Type="http://schemas.openxmlformats.org/officeDocument/2006/relationships/hyperlink" Target="http://en.wikipedia.org/wiki/Bar_chart" TargetMode="External"/><Relationship Id="rId2" Type="http://schemas.openxmlformats.org/officeDocument/2006/relationships/hyperlink" Target="http://en.wikipedia.org/wiki/File:Black_cherry_tree_histogram.svg"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en.wikipedia.org/wiki/File:F%C3%B6rs%C3%A4ljningsstatistik_f%C3%B6r_blanddrycker.png" TargetMode="External"/><Relationship Id="rId4" Type="http://schemas.openxmlformats.org/officeDocument/2006/relationships/hyperlink" Target="http://en.wikipedia.org/wiki/Histogram"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en.wikipedia.org/wiki/Line_chart"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hyperlink" Target="http://en.wikipedia.org/wiki/File:Actionnariat_Lib%C3%A9.JPG" TargetMode="External"/><Relationship Id="rId1" Type="http://schemas.openxmlformats.org/officeDocument/2006/relationships/slideLayout" Target="../slideLayouts/slideLayout2.xml"/><Relationship Id="rId6" Type="http://schemas.openxmlformats.org/officeDocument/2006/relationships/hyperlink" Target="http://en.wikipedia.org/wiki/File:USTrade1991-2005.png" TargetMode="External"/><Relationship Id="rId5" Type="http://schemas.openxmlformats.org/officeDocument/2006/relationships/image" Target="../media/image8.png"/><Relationship Id="rId4" Type="http://schemas.openxmlformats.org/officeDocument/2006/relationships/hyperlink" Target="http://en.wikipedia.org/wiki/Pie_chart" TargetMode="External"/><Relationship Id="rId9"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1" y="76199"/>
            <a:ext cx="1219200" cy="1143000"/>
          </a:xfrm>
          <a:prstGeom prst="rect">
            <a:avLst/>
          </a:prstGeom>
          <a:noFill/>
          <a:ln>
            <a:noFill/>
          </a:ln>
        </p:spPr>
      </p:pic>
      <p:pic>
        <p:nvPicPr>
          <p:cNvPr id="5" name="Picture 4"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7924800" y="0"/>
            <a:ext cx="1219200" cy="1143000"/>
          </a:xfrm>
          <a:prstGeom prst="rect">
            <a:avLst/>
          </a:prstGeom>
          <a:noFill/>
          <a:ln>
            <a:noFill/>
          </a:ln>
        </p:spPr>
      </p:pic>
      <p:sp>
        <p:nvSpPr>
          <p:cNvPr id="7" name="Title 1"/>
          <p:cNvSpPr txBox="1">
            <a:spLocks/>
          </p:cNvSpPr>
          <p:nvPr/>
        </p:nvSpPr>
        <p:spPr>
          <a:xfrm>
            <a:off x="381000" y="1066800"/>
            <a:ext cx="8229600" cy="9906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600" b="1" i="0" u="sng" strike="noStrike" kern="1200" cap="none" spc="0" normalizeH="0" baseline="0" noProof="0" dirty="0" smtClean="0">
              <a:ln>
                <a:noFill/>
              </a:ln>
              <a:solidFill>
                <a:schemeClr val="accent6">
                  <a:lumMod val="75000"/>
                </a:schemeClr>
              </a:solidFill>
              <a:effectLst/>
              <a:uLnTx/>
              <a:uFillTx/>
              <a:latin typeface="Albertus Extra Bold" pitchFamily="34" charset="0"/>
              <a:ea typeface="+mj-ea"/>
              <a:cs typeface="+mj-cs"/>
            </a:endParaRPr>
          </a:p>
          <a:p>
            <a:pPr algn="ctr"/>
            <a:r>
              <a:rPr lang="en-US" sz="3600" b="1" dirty="0"/>
              <a:t>CHAPTER </a:t>
            </a:r>
            <a:r>
              <a:rPr lang="en-US" sz="3600" b="1" dirty="0" smtClean="0"/>
              <a:t>ONE</a:t>
            </a:r>
          </a:p>
          <a:p>
            <a:pPr algn="ctr"/>
            <a:endParaRPr lang="en-US" sz="3600" dirty="0"/>
          </a:p>
          <a:p>
            <a:pPr algn="ctr"/>
            <a:r>
              <a:rPr lang="en-US" sz="3600" b="1" dirty="0"/>
              <a:t>INTRODUCTION OF STATISTICS</a:t>
            </a:r>
            <a:endParaRPr lang="en-US" sz="3600"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600" b="1" i="0" u="sng" strike="noStrike" kern="1200" cap="none" spc="0" normalizeH="0" baseline="0" noProof="0" dirty="0" smtClean="0">
              <a:ln>
                <a:noFill/>
              </a:ln>
              <a:solidFill>
                <a:schemeClr val="accent6">
                  <a:lumMod val="75000"/>
                </a:schemeClr>
              </a:solidFill>
              <a:effectLst/>
              <a:uLnTx/>
              <a:uFillTx/>
              <a:latin typeface="Albertus Extra Bold" pitchFamily="34" charset="0"/>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smtClean="0">
                <a:ln>
                  <a:noFill/>
                </a:ln>
                <a:solidFill>
                  <a:schemeClr val="accent6">
                    <a:lumMod val="75000"/>
                  </a:schemeClr>
                </a:solidFill>
                <a:effectLst/>
                <a:uLnTx/>
                <a:uFillTx/>
                <a:latin typeface="Albertus Extra Bold" pitchFamily="34" charset="0"/>
                <a:ea typeface="+mj-ea"/>
                <a:cs typeface="+mj-cs"/>
              </a:rPr>
              <a:t/>
            </a:r>
            <a:br>
              <a:rPr kumimoji="0" lang="en-US" sz="3600" b="0" i="0" u="none" strike="noStrike" kern="1200" cap="none" spc="0" normalizeH="0" baseline="0" noProof="0" dirty="0" smtClean="0">
                <a:ln>
                  <a:noFill/>
                </a:ln>
                <a:solidFill>
                  <a:schemeClr val="accent6">
                    <a:lumMod val="75000"/>
                  </a:schemeClr>
                </a:solidFill>
                <a:effectLst/>
                <a:uLnTx/>
                <a:uFillTx/>
                <a:latin typeface="Albertus Extra Bold" pitchFamily="34" charset="0"/>
                <a:ea typeface="+mj-ea"/>
                <a:cs typeface="+mj-cs"/>
              </a:rPr>
            </a:br>
            <a:endParaRPr kumimoji="0" lang="en-US" sz="3600" b="0" i="0" u="none" strike="noStrike" kern="1200" cap="none" spc="0" normalizeH="0" baseline="0" noProof="0" dirty="0" smtClean="0">
              <a:ln>
                <a:noFill/>
              </a:ln>
              <a:solidFill>
                <a:schemeClr val="accent6">
                  <a:lumMod val="75000"/>
                </a:schemeClr>
              </a:solidFill>
              <a:effectLst/>
              <a:uLnTx/>
              <a:uFillTx/>
              <a:latin typeface="Albertus Extra Bold" pitchFamily="34" charset="0"/>
              <a:ea typeface="+mj-ea"/>
              <a:cs typeface="+mj-cs"/>
            </a:endParaRPr>
          </a:p>
        </p:txBody>
      </p:sp>
      <p:sp>
        <p:nvSpPr>
          <p:cNvPr id="8" name="Content Placeholder 2"/>
          <p:cNvSpPr txBox="1">
            <a:spLocks/>
          </p:cNvSpPr>
          <p:nvPr/>
        </p:nvSpPr>
        <p:spPr>
          <a:xfrm>
            <a:off x="533400" y="2514600"/>
            <a:ext cx="7772400" cy="3962400"/>
          </a:xfrm>
          <a:prstGeom prst="rect">
            <a:avLst/>
          </a:prstGeom>
          <a:solidFill>
            <a:schemeClr val="accent4">
              <a:lumMod val="20000"/>
              <a:lumOff val="80000"/>
            </a:schemeClr>
          </a:solidFill>
        </p:spPr>
        <p:txBody>
          <a:bodyPr vert="horz" lIns="91440" tIns="45720" rIns="91440" bIns="45720" rtlCol="0">
            <a:normAutofit lnSpcReduction="10000"/>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sz="3600" b="1" dirty="0" smtClean="0">
                <a:solidFill>
                  <a:schemeClr val="accent6">
                    <a:lumMod val="75000"/>
                  </a:schemeClr>
                </a:solidFill>
                <a:latin typeface="Albertus Extra Bold" pitchFamily="34" charset="0"/>
                <a:ea typeface="+mj-ea"/>
                <a:cs typeface="+mj-cs"/>
              </a:rPr>
              <a:t>Definition:</a:t>
            </a:r>
            <a:endParaRPr lang="en-US" sz="3600" b="1" u="sng" dirty="0">
              <a:solidFill>
                <a:schemeClr val="accent6">
                  <a:lumMod val="75000"/>
                </a:schemeClr>
              </a:solidFill>
              <a:latin typeface="Albertus Extra Bold" pitchFamily="34" charset="0"/>
              <a:ea typeface="+mj-ea"/>
              <a:cs typeface="+mj-cs"/>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600" b="0" i="0" u="none" strike="noStrike" kern="1200" cap="none" spc="0" normalizeH="0" baseline="0" noProof="0" dirty="0" smtClean="0">
                <a:ln>
                  <a:noFill/>
                </a:ln>
                <a:solidFill>
                  <a:srgbClr val="0070C0"/>
                </a:solidFill>
                <a:effectLst/>
                <a:uLnTx/>
                <a:uFillTx/>
                <a:latin typeface="+mn-lt"/>
                <a:ea typeface="+mn-ea"/>
                <a:cs typeface="+mn-cs"/>
              </a:rPr>
              <a:t>Statistics is concerned with scientific methods for collecting, organizing, summarizing, presenting, and analyzing data as well as with drawing valid conclusions and making reasonable decisions on the basis of such analysis.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solidFill>
                  <a:schemeClr val="accent6">
                    <a:lumMod val="75000"/>
                  </a:schemeClr>
                </a:solidFill>
              </a:rPr>
              <a:t>Population: </a:t>
            </a:r>
            <a:r>
              <a:rPr lang="en-US" dirty="0"/>
              <a:t/>
            </a:r>
            <a:br>
              <a:rPr lang="en-US" dirty="0"/>
            </a:br>
            <a:endParaRPr lang="en-US" dirty="0"/>
          </a:p>
        </p:txBody>
      </p:sp>
      <p:sp>
        <p:nvSpPr>
          <p:cNvPr id="5" name="Content Placeholder 4"/>
          <p:cNvSpPr>
            <a:spLocks noGrp="1"/>
          </p:cNvSpPr>
          <p:nvPr>
            <p:ph idx="1"/>
          </p:nvPr>
        </p:nvSpPr>
        <p:spPr>
          <a:xfrm>
            <a:off x="457200" y="1112840"/>
            <a:ext cx="8686800" cy="5211760"/>
          </a:xfrm>
          <a:solidFill>
            <a:schemeClr val="accent5">
              <a:lumMod val="60000"/>
              <a:lumOff val="40000"/>
            </a:schemeClr>
          </a:solidFill>
        </p:spPr>
        <p:txBody>
          <a:bodyPr>
            <a:normAutofit fontScale="25000" lnSpcReduction="20000"/>
          </a:bodyPr>
          <a:lstStyle/>
          <a:p>
            <a:pPr marL="0" indent="0" algn="just">
              <a:buNone/>
            </a:pPr>
            <a:r>
              <a:rPr lang="en-US" sz="10400" dirty="0" smtClean="0">
                <a:latin typeface="Times New Roman" panose="02020603050405020304" pitchFamily="18" charset="0"/>
                <a:cs typeface="Times New Roman" panose="02020603050405020304" pitchFamily="18" charset="0"/>
              </a:rPr>
              <a:t>The </a:t>
            </a:r>
            <a:r>
              <a:rPr lang="en-US" sz="10400" dirty="0">
                <a:latin typeface="Times New Roman" panose="02020603050405020304" pitchFamily="18" charset="0"/>
                <a:cs typeface="Times New Roman" panose="02020603050405020304" pitchFamily="18" charset="0"/>
              </a:rPr>
              <a:t>totality of all elements under the study or discussion is called population. </a:t>
            </a:r>
            <a:endParaRPr lang="en-US" sz="10400" dirty="0" smtClean="0">
              <a:latin typeface="Times New Roman" panose="02020603050405020304" pitchFamily="18" charset="0"/>
              <a:cs typeface="Times New Roman" panose="02020603050405020304" pitchFamily="18" charset="0"/>
            </a:endParaRPr>
          </a:p>
          <a:p>
            <a:pPr marL="0" indent="0" algn="just">
              <a:buNone/>
            </a:pPr>
            <a:endParaRPr lang="en-US" sz="10400" dirty="0">
              <a:latin typeface="Times New Roman" panose="02020603050405020304" pitchFamily="18" charset="0"/>
              <a:cs typeface="Times New Roman" panose="02020603050405020304" pitchFamily="18" charset="0"/>
            </a:endParaRPr>
          </a:p>
          <a:p>
            <a:pPr marL="0" indent="0" algn="just">
              <a:buNone/>
            </a:pPr>
            <a:r>
              <a:rPr lang="en-US" sz="10400" dirty="0" smtClean="0">
                <a:latin typeface="Times New Roman" panose="02020603050405020304" pitchFamily="18" charset="0"/>
                <a:cs typeface="Times New Roman" panose="02020603050405020304" pitchFamily="18" charset="0"/>
              </a:rPr>
              <a:t>Example</a:t>
            </a:r>
            <a:r>
              <a:rPr lang="en-US" sz="10400" dirty="0">
                <a:latin typeface="Times New Roman" panose="02020603050405020304" pitchFamily="18" charset="0"/>
                <a:cs typeface="Times New Roman" panose="02020603050405020304" pitchFamily="18" charset="0"/>
              </a:rPr>
              <a:t>: If we measure the heights and weights of a group of person then it is called population</a:t>
            </a:r>
            <a:r>
              <a:rPr lang="en-US" sz="10400" dirty="0" smtClean="0">
                <a:latin typeface="Times New Roman" panose="02020603050405020304" pitchFamily="18" charset="0"/>
                <a:cs typeface="Times New Roman" panose="02020603050405020304" pitchFamily="18" charset="0"/>
              </a:rPr>
              <a:t>.</a:t>
            </a:r>
          </a:p>
          <a:p>
            <a:pPr marL="0" indent="0" algn="just">
              <a:buNone/>
            </a:pPr>
            <a:endParaRPr lang="en-US" sz="10400" dirty="0">
              <a:latin typeface="Times New Roman" panose="02020603050405020304" pitchFamily="18" charset="0"/>
              <a:cs typeface="Times New Roman" panose="02020603050405020304" pitchFamily="18" charset="0"/>
            </a:endParaRPr>
          </a:p>
          <a:p>
            <a:pPr marL="0" indent="0" algn="just">
              <a:buNone/>
            </a:pPr>
            <a:r>
              <a:rPr lang="en-US" sz="10400" dirty="0">
                <a:latin typeface="Times New Roman" panose="02020603050405020304" pitchFamily="18" charset="0"/>
                <a:cs typeface="Times New Roman" panose="02020603050405020304" pitchFamily="18" charset="0"/>
              </a:rPr>
              <a:t>Populations are two types: (</a:t>
            </a:r>
            <a:r>
              <a:rPr lang="en-US" sz="10400" dirty="0" err="1">
                <a:latin typeface="Times New Roman" panose="02020603050405020304" pitchFamily="18" charset="0"/>
                <a:cs typeface="Times New Roman" panose="02020603050405020304" pitchFamily="18" charset="0"/>
              </a:rPr>
              <a:t>i</a:t>
            </a:r>
            <a:r>
              <a:rPr lang="en-US" sz="10400" dirty="0">
                <a:latin typeface="Times New Roman" panose="02020603050405020304" pitchFamily="18" charset="0"/>
                <a:cs typeface="Times New Roman" panose="02020603050405020304" pitchFamily="18" charset="0"/>
              </a:rPr>
              <a:t>) Finite population;</a:t>
            </a:r>
          </a:p>
          <a:p>
            <a:pPr marL="0" indent="0" algn="just">
              <a:buNone/>
            </a:pPr>
            <a:r>
              <a:rPr lang="en-US" sz="10400" dirty="0">
                <a:latin typeface="Times New Roman" panose="02020603050405020304" pitchFamily="18" charset="0"/>
                <a:cs typeface="Times New Roman" panose="02020603050405020304" pitchFamily="18" charset="0"/>
              </a:rPr>
              <a:t>                                           (ii) Infinite population.   </a:t>
            </a:r>
            <a:r>
              <a:rPr lang="en-US" sz="10400" dirty="0" smtClean="0">
                <a:latin typeface="Times New Roman" panose="02020603050405020304" pitchFamily="18" charset="0"/>
                <a:cs typeface="Times New Roman" panose="02020603050405020304" pitchFamily="18" charset="0"/>
              </a:rPr>
              <a:t>                                                                                                                                       </a:t>
            </a:r>
            <a:endParaRPr lang="en-US" sz="10400" dirty="0">
              <a:latin typeface="Times New Roman" panose="02020603050405020304" pitchFamily="18" charset="0"/>
              <a:cs typeface="Times New Roman" panose="02020603050405020304" pitchFamily="18" charset="0"/>
            </a:endParaRPr>
          </a:p>
          <a:p>
            <a:pPr marL="0" indent="0" algn="just">
              <a:buNone/>
            </a:pPr>
            <a:r>
              <a:rPr lang="en-US" sz="10400" b="1" dirty="0">
                <a:latin typeface="Times New Roman" panose="02020603050405020304" pitchFamily="18" charset="0"/>
                <a:cs typeface="Times New Roman" panose="02020603050405020304" pitchFamily="18" charset="0"/>
              </a:rPr>
              <a:t>Finite population: </a:t>
            </a:r>
            <a:r>
              <a:rPr lang="en-US" sz="10400" dirty="0">
                <a:latin typeface="Times New Roman" panose="02020603050405020304" pitchFamily="18" charset="0"/>
                <a:cs typeface="Times New Roman" panose="02020603050405020304" pitchFamily="18" charset="0"/>
              </a:rPr>
              <a:t>A Population is called finite population if its elements are </a:t>
            </a:r>
            <a:r>
              <a:rPr lang="en-US" sz="10400" dirty="0" smtClean="0">
                <a:latin typeface="Times New Roman" panose="02020603050405020304" pitchFamily="18" charset="0"/>
                <a:cs typeface="Times New Roman" panose="02020603050405020304" pitchFamily="18" charset="0"/>
              </a:rPr>
              <a:t>countable. Example</a:t>
            </a:r>
            <a:r>
              <a:rPr lang="en-US" sz="10400" dirty="0">
                <a:latin typeface="Times New Roman" panose="02020603050405020304" pitchFamily="18" charset="0"/>
                <a:cs typeface="Times New Roman" panose="02020603050405020304" pitchFamily="18" charset="0"/>
              </a:rPr>
              <a:t>: Number of students in a university.</a:t>
            </a:r>
          </a:p>
          <a:p>
            <a:pPr marL="0" indent="0" algn="just">
              <a:buNone/>
            </a:pPr>
            <a:r>
              <a:rPr lang="en-US" sz="10400" b="1" dirty="0">
                <a:latin typeface="Times New Roman" panose="02020603050405020304" pitchFamily="18" charset="0"/>
                <a:cs typeface="Times New Roman" panose="02020603050405020304" pitchFamily="18" charset="0"/>
              </a:rPr>
              <a:t>Infinite population: </a:t>
            </a:r>
            <a:r>
              <a:rPr lang="en-US" sz="10400" dirty="0">
                <a:latin typeface="Times New Roman" panose="02020603050405020304" pitchFamily="18" charset="0"/>
                <a:cs typeface="Times New Roman" panose="02020603050405020304" pitchFamily="18" charset="0"/>
              </a:rPr>
              <a:t>A </a:t>
            </a:r>
            <a:r>
              <a:rPr lang="en-US" sz="10400" dirty="0" smtClean="0">
                <a:latin typeface="Times New Roman" panose="02020603050405020304" pitchFamily="18" charset="0"/>
                <a:cs typeface="Times New Roman" panose="02020603050405020304" pitchFamily="18" charset="0"/>
              </a:rPr>
              <a:t>population </a:t>
            </a:r>
            <a:r>
              <a:rPr lang="en-US" sz="10400" dirty="0">
                <a:latin typeface="Times New Roman" panose="02020603050405020304" pitchFamily="18" charset="0"/>
                <a:cs typeface="Times New Roman" panose="02020603050405020304" pitchFamily="18" charset="0"/>
              </a:rPr>
              <a:t>is called infinite population if its elements are not countable.</a:t>
            </a:r>
          </a:p>
          <a:p>
            <a:pPr marL="0" indent="0" algn="just">
              <a:buNone/>
            </a:pPr>
            <a:r>
              <a:rPr lang="en-US" sz="10400" dirty="0" smtClean="0">
                <a:latin typeface="Times New Roman" panose="02020603050405020304" pitchFamily="18" charset="0"/>
                <a:cs typeface="Times New Roman" panose="02020603050405020304" pitchFamily="18" charset="0"/>
              </a:rPr>
              <a:t>Example</a:t>
            </a:r>
            <a:r>
              <a:rPr lang="en-US" sz="10400" dirty="0">
                <a:latin typeface="Times New Roman" panose="02020603050405020304" pitchFamily="18" charset="0"/>
                <a:cs typeface="Times New Roman" panose="02020603050405020304" pitchFamily="18" charset="0"/>
              </a:rPr>
              <a:t>: Number of fishes in the Bay of Bengal. </a:t>
            </a:r>
          </a:p>
          <a:p>
            <a:pPr marL="0" indent="0">
              <a:buNone/>
            </a:pPr>
            <a:r>
              <a:rPr lang="en-US" b="1" dirty="0"/>
              <a:t> </a:t>
            </a:r>
            <a:endParaRPr lang="en-US" dirty="0"/>
          </a:p>
          <a:p>
            <a:pPr marL="0" indent="0">
              <a:buNone/>
            </a:pPr>
            <a:endParaRPr lang="en-US" dirty="0"/>
          </a:p>
        </p:txBody>
      </p:sp>
      <p:pic>
        <p:nvPicPr>
          <p:cNvPr id="6" name="Picture 5"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7924800" y="0"/>
            <a:ext cx="1219200" cy="838201"/>
          </a:xfrm>
          <a:prstGeom prst="rect">
            <a:avLst/>
          </a:prstGeom>
          <a:noFill/>
          <a:ln>
            <a:noFill/>
          </a:ln>
        </p:spPr>
      </p:pic>
      <p:pic>
        <p:nvPicPr>
          <p:cNvPr id="7" name="Picture 6"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152401" y="228599"/>
            <a:ext cx="1219200" cy="609601"/>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36637"/>
            <a:ext cx="8763000" cy="5440363"/>
          </a:xfrm>
          <a:solidFill>
            <a:schemeClr val="tx2">
              <a:lumMod val="40000"/>
              <a:lumOff val="60000"/>
            </a:schemeClr>
          </a:solidFill>
        </p:spPr>
        <p:txBody>
          <a:bodyPr>
            <a:normAutofit fontScale="92500" lnSpcReduction="10000"/>
          </a:bodyPr>
          <a:lstStyle/>
          <a:p>
            <a:pPr marL="0" indent="0">
              <a:buNone/>
            </a:pPr>
            <a:endParaRPr lang="en-US" sz="2400" b="1" dirty="0" smtClean="0"/>
          </a:p>
          <a:p>
            <a:pPr marL="0" indent="0">
              <a:buNone/>
            </a:pPr>
            <a:r>
              <a:rPr lang="en-US" sz="2400" b="1" dirty="0" smtClean="0"/>
              <a:t>Sample: </a:t>
            </a:r>
            <a:r>
              <a:rPr lang="en-US" sz="2400" dirty="0" smtClean="0"/>
              <a:t>A </a:t>
            </a:r>
            <a:r>
              <a:rPr lang="en-US" sz="2400" dirty="0"/>
              <a:t>representative part of population is called sample Or a part of the population is called </a:t>
            </a:r>
            <a:r>
              <a:rPr lang="en-US" sz="2400" b="1" dirty="0"/>
              <a:t>sample</a:t>
            </a:r>
            <a:r>
              <a:rPr lang="en-US" sz="2400" dirty="0"/>
              <a:t>.</a:t>
            </a:r>
          </a:p>
          <a:p>
            <a:pPr marL="0" indent="0">
              <a:buNone/>
            </a:pPr>
            <a:r>
              <a:rPr lang="en-US" sz="2400" dirty="0"/>
              <a:t>Example: If we measure the height and weight of IIUC student, then that of the CSE/EEE/ETE department student are sample.</a:t>
            </a:r>
          </a:p>
          <a:p>
            <a:pPr>
              <a:buNone/>
            </a:pPr>
            <a:endParaRPr lang="en-US" sz="2000" b="1" dirty="0" smtClean="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b="1" dirty="0" smtClean="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b="1" dirty="0" smtClean="0">
              <a:latin typeface="Times New Roman" panose="02020603050405020304" pitchFamily="18" charset="0"/>
              <a:cs typeface="Times New Roman" panose="02020603050405020304" pitchFamily="18" charset="0"/>
            </a:endParaRPr>
          </a:p>
          <a:p>
            <a:pPr>
              <a:buNone/>
            </a:pPr>
            <a:endParaRPr lang="en-US" sz="2000" b="1" dirty="0" smtClean="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b="1" dirty="0" smtClean="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b="1" dirty="0" smtClean="0">
              <a:latin typeface="Times New Roman" panose="02020603050405020304" pitchFamily="18" charset="0"/>
              <a:cs typeface="Times New Roman" panose="02020603050405020304" pitchFamily="18" charset="0"/>
            </a:endParaRPr>
          </a:p>
          <a:p>
            <a:pPr>
              <a:buNone/>
            </a:pPr>
            <a:r>
              <a:rPr lang="en-US" sz="2000" b="1" dirty="0" smtClean="0">
                <a:latin typeface="Times New Roman" panose="02020603050405020304" pitchFamily="18" charset="0"/>
                <a:cs typeface="Times New Roman" panose="02020603050405020304" pitchFamily="18" charset="0"/>
              </a:rPr>
              <a:t># Difference </a:t>
            </a:r>
            <a:r>
              <a:rPr lang="en-US" sz="2000" b="1" dirty="0">
                <a:latin typeface="Times New Roman" panose="02020603050405020304" pitchFamily="18" charset="0"/>
                <a:cs typeface="Times New Roman" panose="02020603050405020304" pitchFamily="18" charset="0"/>
              </a:rPr>
              <a:t>between a population and a sample</a:t>
            </a:r>
            <a:endParaRPr lang="en-US" sz="2000" dirty="0">
              <a:latin typeface="Times New Roman" panose="02020603050405020304" pitchFamily="18" charset="0"/>
              <a:cs typeface="Times New Roman" panose="02020603050405020304" pitchFamily="18" charset="0"/>
            </a:endParaRPr>
          </a:p>
          <a:p>
            <a:pPr>
              <a:buNone/>
            </a:pPr>
            <a:endParaRPr lang="en-US" dirty="0"/>
          </a:p>
        </p:txBody>
      </p:sp>
      <p:pic>
        <p:nvPicPr>
          <p:cNvPr id="4" name="Picture 3"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1" y="76199"/>
            <a:ext cx="1219200" cy="1143000"/>
          </a:xfrm>
          <a:prstGeom prst="rect">
            <a:avLst/>
          </a:prstGeom>
          <a:noFill/>
          <a:ln>
            <a:noFill/>
          </a:ln>
        </p:spPr>
      </p:pic>
      <p:pic>
        <p:nvPicPr>
          <p:cNvPr id="5" name="Picture 4"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7924800" y="0"/>
            <a:ext cx="1219200" cy="1143000"/>
          </a:xfrm>
          <a:prstGeom prst="rect">
            <a:avLst/>
          </a:prstGeom>
          <a:noFill/>
          <a:ln>
            <a:noFill/>
          </a:ln>
        </p:spPr>
      </p:pic>
      <p:pic>
        <p:nvPicPr>
          <p:cNvPr id="6" name="Picture 5" descr="figure"/>
          <p:cNvPicPr/>
          <p:nvPr/>
        </p:nvPicPr>
        <p:blipFill>
          <a:blip r:embed="rId3"/>
          <a:srcRect/>
          <a:stretch>
            <a:fillRect/>
          </a:stretch>
        </p:blipFill>
        <p:spPr bwMode="auto">
          <a:xfrm>
            <a:off x="1905000" y="2895600"/>
            <a:ext cx="4648200" cy="2514600"/>
          </a:xfrm>
          <a:prstGeom prst="rect">
            <a:avLst/>
          </a:prstGeom>
          <a:solidFill>
            <a:srgbClr val="FFFF00"/>
          </a:solid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US" b="1" dirty="0" smtClean="0">
                <a:solidFill>
                  <a:srgbClr val="FF0000"/>
                </a:solidFill>
              </a:rPr>
              <a:t>Variable</a:t>
            </a:r>
            <a:endParaRPr lang="en-US" b="1" dirty="0">
              <a:solidFill>
                <a:srgbClr val="FF0000"/>
              </a:solidFill>
            </a:endParaRPr>
          </a:p>
        </p:txBody>
      </p:sp>
      <p:sp>
        <p:nvSpPr>
          <p:cNvPr id="4" name="Rectangle 22"/>
          <p:cNvSpPr>
            <a:spLocks noGrp="1" noChangeArrowheads="1"/>
          </p:cNvSpPr>
          <p:nvPr>
            <p:ph idx="1"/>
          </p:nvPr>
        </p:nvSpPr>
        <p:spPr bwMode="auto">
          <a:xfrm>
            <a:off x="304800" y="946666"/>
            <a:ext cx="8815316" cy="5262979"/>
          </a:xfrm>
          <a:prstGeom prst="rect">
            <a:avLst/>
          </a:prstGeom>
          <a:solidFill>
            <a:schemeClr val="accent5">
              <a:lumMod val="40000"/>
              <a:lumOff val="60000"/>
            </a:schemeClr>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indent="0" algn="just">
              <a:buNone/>
            </a:pPr>
            <a:r>
              <a:rPr lang="en-US" sz="2400" dirty="0"/>
              <a:t>Any phenomenon which varies from individual to individual is called variable. Variables are represented by symbols (e.g., x, y, or z).</a:t>
            </a:r>
          </a:p>
          <a:p>
            <a:pPr marL="0" indent="0" algn="just">
              <a:buNone/>
            </a:pPr>
            <a:r>
              <a:rPr lang="en-US" sz="2400" dirty="0"/>
              <a:t>For example Age, weight, height, sex, income and expenses, country of birth, capital expenditure, class grades, eye </a:t>
            </a:r>
            <a:r>
              <a:rPr lang="en-US" sz="2400" dirty="0" err="1"/>
              <a:t>colour</a:t>
            </a:r>
            <a:r>
              <a:rPr lang="en-US" sz="2400" dirty="0"/>
              <a:t> and vehicle type are examples of variables. </a:t>
            </a:r>
          </a:p>
          <a:p>
            <a:pPr marL="0" indent="0" algn="just">
              <a:buNone/>
            </a:pPr>
            <a:r>
              <a:rPr lang="en-US" sz="2400" dirty="0"/>
              <a:t>Variables can be classified as </a:t>
            </a:r>
            <a:r>
              <a:rPr lang="en-US" sz="2400" b="1" dirty="0"/>
              <a:t>qualitative</a:t>
            </a:r>
            <a:r>
              <a:rPr lang="en-US" sz="2400" dirty="0"/>
              <a:t> (categorical) or </a:t>
            </a:r>
            <a:r>
              <a:rPr lang="en-US" sz="2400" b="1" dirty="0"/>
              <a:t>quantitative</a:t>
            </a:r>
            <a:r>
              <a:rPr lang="en-US" sz="2400" dirty="0"/>
              <a:t> (numeric).</a:t>
            </a:r>
          </a:p>
          <a:p>
            <a:pPr marL="0" indent="0" algn="just">
              <a:buNone/>
            </a:pPr>
            <a:r>
              <a:rPr lang="en-US" sz="2400" b="1" dirty="0"/>
              <a:t>Qualitative variable:</a:t>
            </a:r>
            <a:endParaRPr lang="en-US" sz="2400" dirty="0"/>
          </a:p>
          <a:p>
            <a:pPr marL="0" indent="0" algn="just">
              <a:buNone/>
            </a:pPr>
            <a:r>
              <a:rPr lang="en-US" sz="2400" dirty="0"/>
              <a:t>A variable which cannot be expressed as numerically is called </a:t>
            </a:r>
            <a:r>
              <a:rPr lang="en-US" sz="2400" b="1" dirty="0"/>
              <a:t>qualitative</a:t>
            </a:r>
            <a:r>
              <a:rPr lang="en-US" sz="2400" dirty="0"/>
              <a:t> (categorical) variable.</a:t>
            </a:r>
          </a:p>
          <a:p>
            <a:pPr marL="0" indent="0" algn="just">
              <a:buNone/>
            </a:pPr>
            <a:r>
              <a:rPr lang="en-US" sz="2400" dirty="0"/>
              <a:t>Examples: Hair color, gender, field of study, college attended, political affiliation, status of disease infection, sex, business type, eye </a:t>
            </a:r>
            <a:r>
              <a:rPr lang="en-US" sz="2400" dirty="0" err="1"/>
              <a:t>colour</a:t>
            </a:r>
            <a:r>
              <a:rPr lang="en-US" sz="2400" dirty="0"/>
              <a:t>, religion and brand</a:t>
            </a:r>
            <a:r>
              <a:rPr lang="en-US" sz="2400" dirty="0" smtClean="0"/>
              <a: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609600" y="316216"/>
            <a:ext cx="7658669" cy="3970318"/>
          </a:xfrm>
          <a:prstGeom prst="rect">
            <a:avLst/>
          </a:prstGeom>
          <a:solidFill>
            <a:schemeClr val="accent4">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Quantitative variables can be further classified as </a:t>
            </a:r>
            <a:r>
              <a:rPr kumimoji="0" lang="en-US" b="1"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discrete</a:t>
            </a: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 or </a:t>
            </a:r>
            <a:r>
              <a:rPr kumimoji="0" lang="en-US" b="1"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continuous</a:t>
            </a: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Discrete variable: </a:t>
            </a: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 </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A variable is called discrete variable if it can take only isolated (Whole) values. Examples of discrete variables include the number of registered cars, number of business locations, and number of children in a family, all of  which measured as whole units (i.e. ,1, 2, 3 cars).</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Continuous variable: </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A variable is called continuous variable if it can take any values between certain limits. i.e. Observations can take any value between a certain set of real numbers</a:t>
            </a:r>
            <a:r>
              <a:rPr kumimoji="0" lang="en-US" b="1"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  </a:t>
            </a: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Examples of continuous variables include height, time, age, and temperature.</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N.B: Every continuous variable are discrete but every discrete variable are not continuous.</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Figure of different types of variable:</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Arial Unicode MS" panose="020B0604020202020204" pitchFamily="34" charset="-128"/>
                <a:cs typeface="Times New Roman" panose="02020603050405020304" pitchFamily="18" charset="0"/>
              </a:rPr>
              <a:t>                                  		</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pic>
        <p:nvPicPr>
          <p:cNvPr id="70657" name="Picture 1" descr="http://www.abs.gov.au/websitedbs/a3121120.nsf/4a256353001af3ed4b2562bb00121564/5869990518bbb7feca257b55002261e0/Body/3.109A%21OpenElement&amp;FieldElemFormat=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4114800"/>
            <a:ext cx="4113663" cy="2209800"/>
          </a:xfrm>
          <a:prstGeom prst="rect">
            <a:avLst/>
          </a:prstGeom>
          <a:solidFill>
            <a:srgbClr val="00B0F0"/>
          </a:solidFill>
        </p:spPr>
      </p:pic>
      <p:sp>
        <p:nvSpPr>
          <p:cNvPr id="5" name="Rectangle 3"/>
          <p:cNvSpPr>
            <a:spLocks noChangeArrowheads="1"/>
          </p:cNvSpPr>
          <p:nvPr/>
        </p:nvSpPr>
        <p:spPr bwMode="auto">
          <a:xfrm>
            <a:off x="0" y="200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972633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chemeClr val="accent6">
                    <a:lumMod val="75000"/>
                  </a:schemeClr>
                </a:solidFill>
              </a:rPr>
              <a:t>DATA</a:t>
            </a:r>
            <a:endParaRPr lang="en-US" dirty="0">
              <a:solidFill>
                <a:schemeClr val="accent6">
                  <a:lumMod val="75000"/>
                </a:schemeClr>
              </a:solidFill>
            </a:endParaRPr>
          </a:p>
        </p:txBody>
      </p:sp>
      <p:sp>
        <p:nvSpPr>
          <p:cNvPr id="3" name="Content Placeholder 2"/>
          <p:cNvSpPr>
            <a:spLocks noGrp="1"/>
          </p:cNvSpPr>
          <p:nvPr>
            <p:ph idx="1"/>
          </p:nvPr>
        </p:nvSpPr>
        <p:spPr>
          <a:xfrm>
            <a:off x="609600" y="1295400"/>
            <a:ext cx="8001000" cy="4525963"/>
          </a:xfrm>
        </p:spPr>
        <p:txBody>
          <a:bodyPr>
            <a:normAutofit fontScale="85000" lnSpcReduction="10000"/>
          </a:bodyPr>
          <a:lstStyle/>
          <a:p>
            <a:pPr>
              <a:buNone/>
            </a:pPr>
            <a:r>
              <a:rPr lang="en-US" dirty="0">
                <a:solidFill>
                  <a:srgbClr val="0070C0"/>
                </a:solidFill>
              </a:rPr>
              <a:t>The raw materials of statistics consists of observations usually obtain by some process of counting or measurement, referred to collectively as data.</a:t>
            </a:r>
          </a:p>
          <a:p>
            <a:pPr algn="ctr">
              <a:buNone/>
            </a:pPr>
            <a:r>
              <a:rPr lang="en-US" sz="4800" b="1" dirty="0">
                <a:solidFill>
                  <a:schemeClr val="accent6">
                    <a:lumMod val="75000"/>
                  </a:schemeClr>
                </a:solidFill>
                <a:latin typeface="+mj-lt"/>
                <a:ea typeface="+mj-ea"/>
                <a:cs typeface="+mj-cs"/>
              </a:rPr>
              <a:t>Types of Data</a:t>
            </a:r>
          </a:p>
          <a:p>
            <a:pPr>
              <a:buNone/>
            </a:pPr>
            <a:r>
              <a:rPr lang="en-US" sz="3000" b="1" dirty="0">
                <a:solidFill>
                  <a:srgbClr val="0070C0"/>
                </a:solidFill>
                <a:latin typeface="+mj-lt"/>
                <a:ea typeface="+mj-ea"/>
                <a:cs typeface="+mj-cs"/>
              </a:rPr>
              <a:t>Primary Data:</a:t>
            </a:r>
          </a:p>
          <a:p>
            <a:pPr algn="just">
              <a:buNone/>
            </a:pPr>
            <a:r>
              <a:rPr lang="en-US" dirty="0">
                <a:solidFill>
                  <a:srgbClr val="0070C0"/>
                </a:solidFill>
              </a:rPr>
              <a:t>Primary data are those which are collected afresh and for the first time and thus happen to be original in character. Such data are published by the authorities who themselves for their collection. </a:t>
            </a:r>
          </a:p>
          <a:p>
            <a:pPr>
              <a:buNone/>
            </a:pPr>
            <a:endParaRPr lang="en-US" dirty="0">
              <a:solidFill>
                <a:srgbClr val="0070C0"/>
              </a:solidFill>
            </a:endParaRPr>
          </a:p>
          <a:p>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solidFill>
                  <a:schemeClr val="accent6">
                    <a:lumMod val="75000"/>
                  </a:schemeClr>
                </a:solidFill>
              </a:rPr>
              <a:t>Methods of collecting primary data: </a:t>
            </a:r>
            <a:r>
              <a:rPr lang="en-US" sz="4000" dirty="0" smtClean="0"/>
              <a:t/>
            </a:r>
            <a:br>
              <a:rPr lang="en-US" sz="4000" dirty="0" smtClean="0"/>
            </a:br>
            <a:endParaRPr lang="en-US" dirty="0"/>
          </a:p>
        </p:txBody>
      </p:sp>
      <p:sp>
        <p:nvSpPr>
          <p:cNvPr id="3" name="Content Placeholder 2"/>
          <p:cNvSpPr>
            <a:spLocks noGrp="1"/>
          </p:cNvSpPr>
          <p:nvPr>
            <p:ph idx="1"/>
          </p:nvPr>
        </p:nvSpPr>
        <p:spPr>
          <a:xfrm>
            <a:off x="457200" y="914400"/>
            <a:ext cx="9144000" cy="5943600"/>
          </a:xfrm>
        </p:spPr>
        <p:txBody>
          <a:bodyPr>
            <a:normAutofit fontScale="92500" lnSpcReduction="20000"/>
          </a:bodyPr>
          <a:lstStyle/>
          <a:p>
            <a:pPr marL="514350" lvl="0" indent="-514350">
              <a:spcBef>
                <a:spcPts val="0"/>
              </a:spcBef>
              <a:buFont typeface="+mj-lt"/>
              <a:buAutoNum type="alphaLcPeriod"/>
            </a:pPr>
            <a:r>
              <a:rPr lang="en-US" dirty="0" smtClean="0">
                <a:solidFill>
                  <a:srgbClr val="0070C0"/>
                </a:solidFill>
              </a:rPr>
              <a:t>Personal </a:t>
            </a:r>
            <a:r>
              <a:rPr lang="en-US" dirty="0">
                <a:solidFill>
                  <a:srgbClr val="0070C0"/>
                </a:solidFill>
              </a:rPr>
              <a:t>Interview method (Schedule method): </a:t>
            </a:r>
          </a:p>
          <a:p>
            <a:pPr marL="514350" lvl="0" indent="-514350">
              <a:spcBef>
                <a:spcPts val="0"/>
              </a:spcBef>
              <a:buFont typeface="+mj-lt"/>
              <a:buAutoNum type="alphaLcPeriod"/>
            </a:pPr>
            <a:r>
              <a:rPr lang="en-US" dirty="0">
                <a:solidFill>
                  <a:srgbClr val="0070C0"/>
                </a:solidFill>
              </a:rPr>
              <a:t>Mailed questionnaire method: </a:t>
            </a:r>
          </a:p>
          <a:p>
            <a:pPr marL="514350" lvl="0" indent="-514350">
              <a:spcBef>
                <a:spcPts val="0"/>
              </a:spcBef>
              <a:buFont typeface="+mj-lt"/>
              <a:buAutoNum type="alphaLcPeriod"/>
            </a:pPr>
            <a:r>
              <a:rPr lang="en-US" dirty="0">
                <a:solidFill>
                  <a:srgbClr val="0070C0"/>
                </a:solidFill>
              </a:rPr>
              <a:t>Observation method: </a:t>
            </a:r>
          </a:p>
          <a:p>
            <a:pPr marL="514350" lvl="0" indent="-514350">
              <a:spcBef>
                <a:spcPts val="0"/>
              </a:spcBef>
              <a:buFont typeface="+mj-lt"/>
              <a:buAutoNum type="alphaLcPeriod"/>
            </a:pPr>
            <a:r>
              <a:rPr lang="en-US" dirty="0">
                <a:solidFill>
                  <a:srgbClr val="0070C0"/>
                </a:solidFill>
              </a:rPr>
              <a:t>Telephone Interview method: </a:t>
            </a:r>
          </a:p>
          <a:p>
            <a:pPr>
              <a:buNone/>
            </a:pPr>
            <a:r>
              <a:rPr lang="en-US" b="1" dirty="0">
                <a:solidFill>
                  <a:schemeClr val="accent6">
                    <a:lumMod val="75000"/>
                  </a:schemeClr>
                </a:solidFill>
              </a:rPr>
              <a:t>Qualitative Data Collection Techniques</a:t>
            </a:r>
            <a:r>
              <a:rPr lang="en-US" b="1" dirty="0" smtClean="0">
                <a:solidFill>
                  <a:schemeClr val="accent6">
                    <a:lumMod val="75000"/>
                  </a:schemeClr>
                </a:solidFill>
              </a:rPr>
              <a:t>:</a:t>
            </a:r>
          </a:p>
          <a:p>
            <a:pPr marL="571500" lvl="0" indent="-571500">
              <a:buFont typeface="+mj-lt"/>
              <a:buAutoNum type="romanLcPeriod"/>
            </a:pPr>
            <a:r>
              <a:rPr lang="en-US" dirty="0">
                <a:solidFill>
                  <a:srgbClr val="0070C0"/>
                </a:solidFill>
              </a:rPr>
              <a:t>Unstructured Interviews </a:t>
            </a:r>
          </a:p>
          <a:p>
            <a:pPr marL="571500" lvl="0" indent="-571500">
              <a:buFont typeface="+mj-lt"/>
              <a:buAutoNum type="romanLcPeriod"/>
            </a:pPr>
            <a:r>
              <a:rPr lang="en-US" dirty="0">
                <a:solidFill>
                  <a:srgbClr val="0070C0"/>
                </a:solidFill>
              </a:rPr>
              <a:t>Focus Group Discussion (FGD)</a:t>
            </a:r>
          </a:p>
          <a:p>
            <a:pPr marL="571500" lvl="0" indent="-571500">
              <a:buFont typeface="+mj-lt"/>
              <a:buAutoNum type="romanLcPeriod"/>
            </a:pPr>
            <a:r>
              <a:rPr lang="en-US" dirty="0">
                <a:solidFill>
                  <a:srgbClr val="0070C0"/>
                </a:solidFill>
              </a:rPr>
              <a:t>Observations</a:t>
            </a:r>
          </a:p>
          <a:p>
            <a:pPr marL="571500" lvl="0" indent="-571500">
              <a:buFont typeface="+mj-lt"/>
              <a:buAutoNum type="romanLcPeriod"/>
            </a:pPr>
            <a:r>
              <a:rPr lang="en-US" dirty="0">
                <a:solidFill>
                  <a:srgbClr val="0070C0"/>
                </a:solidFill>
              </a:rPr>
              <a:t>Document Study </a:t>
            </a:r>
          </a:p>
          <a:p>
            <a:pPr marL="571500" lvl="0" indent="-571500">
              <a:buFont typeface="+mj-lt"/>
              <a:buAutoNum type="romanLcPeriod"/>
            </a:pPr>
            <a:r>
              <a:rPr lang="en-US" dirty="0">
                <a:solidFill>
                  <a:srgbClr val="0070C0"/>
                </a:solidFill>
              </a:rPr>
              <a:t>Content Analysis</a:t>
            </a:r>
          </a:p>
          <a:p>
            <a:pPr marL="571500" lvl="0" indent="-571500">
              <a:buFont typeface="+mj-lt"/>
              <a:buAutoNum type="romanLcPeriod"/>
            </a:pPr>
            <a:r>
              <a:rPr lang="en-US" dirty="0">
                <a:solidFill>
                  <a:srgbClr val="0070C0"/>
                </a:solidFill>
              </a:rPr>
              <a:t>Case Study</a:t>
            </a:r>
          </a:p>
          <a:p>
            <a:pPr marL="571500" lvl="0" indent="-571500">
              <a:buFont typeface="+mj-lt"/>
              <a:buAutoNum type="romanLcPeriod"/>
            </a:pPr>
            <a:r>
              <a:rPr lang="en-US" dirty="0">
                <a:solidFill>
                  <a:srgbClr val="0070C0"/>
                </a:solidFill>
              </a:rPr>
              <a:t>Panel Study </a:t>
            </a:r>
          </a:p>
          <a:p>
            <a:pPr marL="571500" lvl="0" indent="-571500">
              <a:buFont typeface="+mj-lt"/>
              <a:buAutoNum type="romanLcPeriod"/>
            </a:pPr>
            <a:r>
              <a:rPr lang="en-US" dirty="0">
                <a:solidFill>
                  <a:srgbClr val="0070C0"/>
                </a:solidFill>
              </a:rPr>
              <a:t>Delphi method</a:t>
            </a:r>
          </a:p>
          <a:p>
            <a:pPr>
              <a:buNone/>
            </a:pPr>
            <a:endParaRPr lang="en-US" dirty="0">
              <a:solidFill>
                <a:schemeClr val="accent6">
                  <a:lumMod val="75000"/>
                </a:schemeClr>
              </a:solidFill>
            </a:endParaRP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Secondary data:</a:t>
            </a:r>
            <a:r>
              <a:rPr lang="en-US" dirty="0" smtClean="0">
                <a:solidFill>
                  <a:schemeClr val="accent6">
                    <a:lumMod val="75000"/>
                  </a:schemeClr>
                </a:solidFill>
              </a:rPr>
              <a:t>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dirty="0" smtClean="0">
                <a:solidFill>
                  <a:srgbClr val="0070C0"/>
                </a:solidFill>
              </a:rPr>
              <a:t>When </a:t>
            </a:r>
            <a:r>
              <a:rPr lang="en-US" dirty="0">
                <a:solidFill>
                  <a:srgbClr val="0070C0"/>
                </a:solidFill>
              </a:rPr>
              <a:t>an investigator (researcher) uses the data which has already been collected by </a:t>
            </a:r>
            <a:r>
              <a:rPr lang="en-US" dirty="0" smtClean="0">
                <a:solidFill>
                  <a:srgbClr val="0070C0"/>
                </a:solidFill>
              </a:rPr>
              <a:t>others.</a:t>
            </a:r>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r>
              <a:rPr lang="en-US" sz="4000" b="1" dirty="0" smtClean="0">
                <a:solidFill>
                  <a:schemeClr val="accent6">
                    <a:lumMod val="75000"/>
                  </a:schemeClr>
                </a:solidFill>
              </a:rPr>
              <a:t> Important Sources of Secondary Data:</a:t>
            </a:r>
            <a:r>
              <a:rPr lang="en-US" sz="4000" dirty="0" smtClean="0">
                <a:solidFill>
                  <a:schemeClr val="accent6">
                    <a:lumMod val="75000"/>
                  </a:schemeClr>
                </a:solidFill>
              </a:rPr>
              <a:t/>
            </a:r>
            <a:br>
              <a:rPr lang="en-US" sz="4000" dirty="0" smtClean="0">
                <a:solidFill>
                  <a:schemeClr val="accent6">
                    <a:lumMod val="75000"/>
                  </a:schemeClr>
                </a:solidFill>
              </a:rPr>
            </a:br>
            <a:endParaRPr lang="en-US" dirty="0">
              <a:solidFill>
                <a:schemeClr val="accent6">
                  <a:lumMod val="75000"/>
                </a:schemeClr>
              </a:solidFill>
            </a:endParaRPr>
          </a:p>
        </p:txBody>
      </p:sp>
      <p:sp>
        <p:nvSpPr>
          <p:cNvPr id="3" name="Content Placeholder 2"/>
          <p:cNvSpPr>
            <a:spLocks noGrp="1"/>
          </p:cNvSpPr>
          <p:nvPr>
            <p:ph idx="1"/>
          </p:nvPr>
        </p:nvSpPr>
        <p:spPr/>
        <p:txBody>
          <a:bodyPr>
            <a:normAutofit fontScale="85000" lnSpcReduction="10000"/>
          </a:bodyPr>
          <a:lstStyle/>
          <a:p>
            <a:pPr marL="514350" lvl="0" indent="-514350">
              <a:buFont typeface="+mj-lt"/>
              <a:buAutoNum type="alphaLcPeriod"/>
            </a:pPr>
            <a:r>
              <a:rPr lang="en-US" b="1" dirty="0" smtClean="0">
                <a:solidFill>
                  <a:srgbClr val="0070C0"/>
                </a:solidFill>
              </a:rPr>
              <a:t>Internal</a:t>
            </a:r>
            <a:r>
              <a:rPr lang="en-US" b="1" dirty="0">
                <a:solidFill>
                  <a:srgbClr val="0070C0"/>
                </a:solidFill>
              </a:rPr>
              <a:t>: Monthly abstract of statistics, Statistical year book, Different ministries, Central bank,  BBS, BIDS, NIPORT, BARI, BRRI, BMD, BFRI, BJMC, BTMC, BENBAISE, Population council , Internet, etc.;</a:t>
            </a:r>
          </a:p>
          <a:p>
            <a:pPr marL="514350" lvl="0" indent="-514350">
              <a:buFont typeface="+mj-lt"/>
              <a:buAutoNum type="alphaLcPeriod"/>
            </a:pPr>
            <a:r>
              <a:rPr lang="en-US" b="1" dirty="0">
                <a:solidFill>
                  <a:srgbClr val="0070C0"/>
                </a:solidFill>
              </a:rPr>
              <a:t>International: UNO, WHO, UNESCO, FAO, ILO, IMF, UNICEF, UNFPA, ICDDR’B, IOM, IRRI, UNCTAD, Internet, World Bank, Statistical Year Book- published by the Statistical Office of the UN etc.;</a:t>
            </a:r>
          </a:p>
          <a:p>
            <a:pPr marL="514350" lvl="0" indent="-514350">
              <a:buFont typeface="+mj-lt"/>
              <a:buAutoNum type="alphaLcPeriod"/>
            </a:pPr>
            <a:r>
              <a:rPr lang="en-US" b="1" dirty="0">
                <a:solidFill>
                  <a:srgbClr val="0070C0"/>
                </a:solidFill>
              </a:rPr>
              <a:t>Other sources: Journals, Reports, Historical documents, Professional bodies, Biographies etc.</a:t>
            </a: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143000"/>
          </a:xfrm>
        </p:spPr>
        <p:txBody>
          <a:bodyPr>
            <a:noAutofit/>
          </a:bodyPr>
          <a:lstStyle/>
          <a:p>
            <a:r>
              <a:rPr lang="en-US" sz="3200" b="1" dirty="0" smtClean="0">
                <a:solidFill>
                  <a:schemeClr val="accent6">
                    <a:lumMod val="75000"/>
                  </a:schemeClr>
                </a:solidFill>
              </a:rPr>
              <a:t>Scrutiny of secondary Data/ Precautions should be taken before using secondary data</a:t>
            </a:r>
            <a:r>
              <a:rPr lang="en-US" sz="3200" dirty="0" smtClean="0">
                <a:solidFill>
                  <a:schemeClr val="accent6">
                    <a:lumMod val="75000"/>
                  </a:schemeClr>
                </a:solidFill>
              </a:rPr>
              <a:t>: </a:t>
            </a:r>
            <a:br>
              <a:rPr lang="en-US" sz="3200" dirty="0" smtClean="0">
                <a:solidFill>
                  <a:schemeClr val="accent6">
                    <a:lumMod val="75000"/>
                  </a:schemeClr>
                </a:solidFill>
              </a:rPr>
            </a:br>
            <a:endParaRPr lang="en-US" dirty="0">
              <a:solidFill>
                <a:schemeClr val="accent6">
                  <a:lumMod val="75000"/>
                </a:schemeClr>
              </a:solidFill>
            </a:endParaRPr>
          </a:p>
        </p:txBody>
      </p:sp>
      <p:sp>
        <p:nvSpPr>
          <p:cNvPr id="3" name="Content Placeholder 2"/>
          <p:cNvSpPr>
            <a:spLocks noGrp="1"/>
          </p:cNvSpPr>
          <p:nvPr>
            <p:ph idx="1"/>
          </p:nvPr>
        </p:nvSpPr>
        <p:spPr>
          <a:xfrm>
            <a:off x="228600" y="1874837"/>
            <a:ext cx="8686800" cy="4983163"/>
          </a:xfrm>
        </p:spPr>
        <p:txBody>
          <a:bodyPr>
            <a:normAutofit/>
          </a:bodyPr>
          <a:lstStyle/>
          <a:p>
            <a:pPr algn="just">
              <a:buNone/>
            </a:pPr>
            <a:r>
              <a:rPr lang="en-US" dirty="0" smtClean="0">
                <a:solidFill>
                  <a:srgbClr val="0070C0"/>
                </a:solidFill>
              </a:rPr>
              <a:t>Secondary </a:t>
            </a:r>
            <a:r>
              <a:rPr lang="en-US" dirty="0">
                <a:solidFill>
                  <a:srgbClr val="0070C0"/>
                </a:solidFill>
              </a:rPr>
              <a:t>data must be used with utmost care because secondary data may be erroneous, inadequate or substitutes. Even if there are errors, secondary data may not be suitable and adequate for the purpose of the study. Hence before using secondary data an investigator should examine the following aspects:</a:t>
            </a: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534400" cy="5943600"/>
          </a:xfrm>
        </p:spPr>
        <p:txBody>
          <a:bodyPr>
            <a:normAutofit fontScale="92500" lnSpcReduction="20000"/>
          </a:bodyPr>
          <a:lstStyle/>
          <a:p>
            <a:pPr marL="514350" lvl="0" indent="-514350" algn="just">
              <a:buFont typeface="+mj-lt"/>
              <a:buAutoNum type="alphaLcPeriod"/>
            </a:pPr>
            <a:r>
              <a:rPr lang="en-US" b="1" dirty="0">
                <a:solidFill>
                  <a:srgbClr val="0070C0"/>
                </a:solidFill>
              </a:rPr>
              <a:t>Suitability</a:t>
            </a:r>
            <a:r>
              <a:rPr lang="en-US" dirty="0">
                <a:solidFill>
                  <a:srgbClr val="0070C0"/>
                </a:solidFill>
              </a:rPr>
              <a:t>: The researcher should satisfy himself that the data contained in the publication will be suitable for his study.</a:t>
            </a:r>
          </a:p>
          <a:p>
            <a:pPr marL="514350" lvl="0" indent="-514350" algn="just">
              <a:buFont typeface="+mj-lt"/>
              <a:buAutoNum type="alphaLcPeriod"/>
            </a:pPr>
            <a:r>
              <a:rPr lang="en-US" b="1" dirty="0">
                <a:solidFill>
                  <a:srgbClr val="0070C0"/>
                </a:solidFill>
              </a:rPr>
              <a:t>Reliability:</a:t>
            </a:r>
            <a:r>
              <a:rPr lang="en-US" dirty="0">
                <a:solidFill>
                  <a:srgbClr val="0070C0"/>
                </a:solidFill>
              </a:rPr>
              <a:t> the reliability of secondary data can be ascertained from the collecting agency, mode of collection and time period of collection.</a:t>
            </a:r>
          </a:p>
          <a:p>
            <a:pPr marL="514350" lvl="0" indent="-514350" algn="just">
              <a:buFont typeface="+mj-lt"/>
              <a:buAutoNum type="alphaLcPeriod"/>
            </a:pPr>
            <a:r>
              <a:rPr lang="en-US" b="1" dirty="0">
                <a:solidFill>
                  <a:srgbClr val="0070C0"/>
                </a:solidFill>
              </a:rPr>
              <a:t>Adequacy:</a:t>
            </a:r>
            <a:r>
              <a:rPr lang="en-US" dirty="0">
                <a:solidFill>
                  <a:srgbClr val="0070C0"/>
                </a:solidFill>
              </a:rPr>
              <a:t> the source of data may be suitable and reliable but the data may not be adequate. Therefore, before using the secondary data it should be examined whether the data are adequate for the study.</a:t>
            </a:r>
          </a:p>
          <a:p>
            <a:pPr marL="514350" lvl="0" indent="-514350" algn="just">
              <a:buFont typeface="+mj-lt"/>
              <a:buAutoNum type="alphaLcPeriod"/>
            </a:pPr>
            <a:r>
              <a:rPr lang="en-US" b="1" dirty="0">
                <a:solidFill>
                  <a:srgbClr val="0070C0"/>
                </a:solidFill>
              </a:rPr>
              <a:t>Accuracy:</a:t>
            </a:r>
            <a:r>
              <a:rPr lang="en-US" dirty="0">
                <a:solidFill>
                  <a:srgbClr val="0070C0"/>
                </a:solidFill>
              </a:rPr>
              <a:t> Finally, the user must be satisfied about the accuracy of the secondary data for his research study.</a:t>
            </a:r>
          </a:p>
          <a:p>
            <a:pPr marL="514350" indent="-514350" algn="just">
              <a:buFont typeface="+mj-lt"/>
              <a:buAutoNum type="alphaLcPeriod"/>
            </a:pPr>
            <a:endParaRPr lang="en-US" dirty="0">
              <a:solidFill>
                <a:srgbClr val="0070C0"/>
              </a:solidFill>
            </a:endParaRP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Disadvantage: </a:t>
            </a:r>
            <a:r>
              <a:rPr lang="en-US" dirty="0" smtClean="0">
                <a:solidFill>
                  <a:schemeClr val="accent6">
                    <a:lumMod val="75000"/>
                  </a:schemeClr>
                </a:solidFill>
              </a:rPr>
              <a:t/>
            </a:r>
            <a:br>
              <a:rPr lang="en-US" dirty="0" smtClean="0">
                <a:solidFill>
                  <a:schemeClr val="accent6">
                    <a:lumMod val="75000"/>
                  </a:schemeClr>
                </a:solidFill>
              </a:rPr>
            </a:br>
            <a:endParaRPr lang="en-US" dirty="0">
              <a:solidFill>
                <a:schemeClr val="accent6">
                  <a:lumMod val="75000"/>
                </a:schemeClr>
              </a:solidFill>
            </a:endParaRPr>
          </a:p>
        </p:txBody>
      </p:sp>
      <p:sp>
        <p:nvSpPr>
          <p:cNvPr id="3" name="Content Placeholder 2"/>
          <p:cNvSpPr>
            <a:spLocks noGrp="1"/>
          </p:cNvSpPr>
          <p:nvPr>
            <p:ph idx="1"/>
          </p:nvPr>
        </p:nvSpPr>
        <p:spPr>
          <a:xfrm>
            <a:off x="457200" y="1600200"/>
            <a:ext cx="8382000" cy="5029200"/>
          </a:xfrm>
        </p:spPr>
        <p:txBody>
          <a:bodyPr>
            <a:normAutofit fontScale="92500" lnSpcReduction="10000"/>
          </a:bodyPr>
          <a:lstStyle/>
          <a:p>
            <a:pPr algn="just"/>
            <a:r>
              <a:rPr lang="en-US" dirty="0" smtClean="0">
                <a:solidFill>
                  <a:srgbClr val="0070C0"/>
                </a:solidFill>
              </a:rPr>
              <a:t>Because </a:t>
            </a:r>
            <a:r>
              <a:rPr lang="en-US" dirty="0">
                <a:solidFill>
                  <a:srgbClr val="0070C0"/>
                </a:solidFill>
              </a:rPr>
              <a:t>secondary data have been collected for purpose other than problem at hand, their usefulness to the current problem may be limited in several important ways including relevance and accuracy. The objective, nature and methods used to collect the secondary data may not be appropriate to the present situation. Also secondary data may be lacking in accuracy and they may not be completely current and dependable. Therefore, before using secondary data, it is important to evaluate them on these factors.</a:t>
            </a:r>
          </a:p>
          <a:p>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534400" cy="5638800"/>
          </a:xfrm>
        </p:spPr>
        <p:txBody>
          <a:bodyPr>
            <a:normAutofit/>
          </a:bodyPr>
          <a:lstStyle/>
          <a:p>
            <a:pPr algn="ctr">
              <a:buNone/>
            </a:pPr>
            <a:r>
              <a:rPr lang="en-US" b="1" dirty="0" smtClean="0">
                <a:solidFill>
                  <a:srgbClr val="0070C0"/>
                </a:solidFill>
              </a:rPr>
              <a:t> </a:t>
            </a:r>
            <a:r>
              <a:rPr lang="en-US" b="1" dirty="0" smtClean="0">
                <a:latin typeface="Times New Roman" pitchFamily="18" charset="0"/>
                <a:cs typeface="Times New Roman" pitchFamily="18" charset="0"/>
              </a:rPr>
              <a:t>Relationship between computer and statistics</a:t>
            </a:r>
            <a:endParaRPr lang="en-US" dirty="0">
              <a:latin typeface="Times New Roman" pitchFamily="18" charset="0"/>
              <a:cs typeface="Times New Roman" pitchFamily="18" charset="0"/>
            </a:endParaRP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
        <p:nvSpPr>
          <p:cNvPr id="27" name="Rectangle 26"/>
          <p:cNvSpPr/>
          <p:nvPr/>
        </p:nvSpPr>
        <p:spPr>
          <a:xfrm>
            <a:off x="762000" y="1905000"/>
            <a:ext cx="8001000" cy="4031873"/>
          </a:xfrm>
          <a:prstGeom prst="rect">
            <a:avLst/>
          </a:prstGeom>
        </p:spPr>
        <p:txBody>
          <a:bodyPr wrap="square">
            <a:spAutoFit/>
          </a:bodyPr>
          <a:lstStyle/>
          <a:p>
            <a:pPr algn="just"/>
            <a:r>
              <a:rPr lang="en-US" sz="3200" dirty="0" smtClean="0">
                <a:latin typeface="Times New Roman" pitchFamily="18" charset="0"/>
                <a:cs typeface="Times New Roman" pitchFamily="18" charset="0"/>
              </a:rPr>
              <a:t>The development of statistics has been closely related to the evaluation of computer. Statistics is a form of data processing. The computer can process large amount of data quickly and accurately. For processing the large amount of data some of the important statistical packages that have been used are – SPSS, SAS, STATA, S-plus and MINITAB.</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7924800" cy="5791200"/>
          </a:xfrm>
        </p:spPr>
        <p:txBody>
          <a:bodyPr>
            <a:noAutofit/>
          </a:bodyPr>
          <a:lstStyle/>
          <a:p>
            <a:pPr algn="just">
              <a:buNone/>
            </a:pPr>
            <a:r>
              <a:rPr lang="en-US" sz="2400" dirty="0" smtClean="0">
                <a:latin typeface="Times New Roman" pitchFamily="18" charset="0"/>
                <a:cs typeface="Times New Roman" pitchFamily="18" charset="0"/>
              </a:rPr>
              <a:t>    In any survey the information are collected according to some predetermined question. A set of question for any survey constitutes the questionnaire.</a:t>
            </a:r>
          </a:p>
          <a:p>
            <a:pPr algn="ctr">
              <a:buNone/>
            </a:pPr>
            <a:r>
              <a:rPr lang="en-US" sz="2800" dirty="0" smtClean="0">
                <a:solidFill>
                  <a:schemeClr val="accent1"/>
                </a:solidFill>
                <a:latin typeface="Times New Roman" pitchFamily="18" charset="0"/>
                <a:cs typeface="Times New Roman" pitchFamily="18" charset="0"/>
              </a:rPr>
              <a:t>Characteristics of a good Questionnaire</a:t>
            </a:r>
          </a:p>
          <a:p>
            <a:pPr lvl="0" algn="just"/>
            <a:r>
              <a:rPr lang="en-US" sz="2800" dirty="0" smtClean="0">
                <a:latin typeface="Times New Roman" pitchFamily="18" charset="0"/>
                <a:cs typeface="Times New Roman" pitchFamily="18" charset="0"/>
              </a:rPr>
              <a:t>Question should be logically arranged.</a:t>
            </a:r>
          </a:p>
          <a:p>
            <a:pPr lvl="0" algn="just"/>
            <a:r>
              <a:rPr lang="en-US" sz="2800" dirty="0" smtClean="0">
                <a:latin typeface="Times New Roman" pitchFamily="18" charset="0"/>
                <a:cs typeface="Times New Roman" pitchFamily="18" charset="0"/>
              </a:rPr>
              <a:t>Question should be as few as possible.</a:t>
            </a:r>
          </a:p>
          <a:p>
            <a:pPr lvl="0" algn="just"/>
            <a:r>
              <a:rPr lang="en-US" sz="2800" dirty="0" smtClean="0">
                <a:latin typeface="Times New Roman" pitchFamily="18" charset="0"/>
                <a:cs typeface="Times New Roman" pitchFamily="18" charset="0"/>
              </a:rPr>
              <a:t>Question should be easy to understand.</a:t>
            </a:r>
          </a:p>
          <a:p>
            <a:pPr lvl="0" algn="just"/>
            <a:r>
              <a:rPr lang="en-US" sz="2800" dirty="0" smtClean="0">
                <a:latin typeface="Times New Roman" pitchFamily="18" charset="0"/>
                <a:cs typeface="Times New Roman" pitchFamily="18" charset="0"/>
              </a:rPr>
              <a:t>Question should not be of multiple meaning.</a:t>
            </a:r>
          </a:p>
          <a:p>
            <a:pPr lvl="0" algn="just"/>
            <a:r>
              <a:rPr lang="en-US" sz="2800" dirty="0" smtClean="0">
                <a:latin typeface="Times New Roman" pitchFamily="18" charset="0"/>
                <a:cs typeface="Times New Roman" pitchFamily="18" charset="0"/>
              </a:rPr>
              <a:t>Question should be capable of objective answer.</a:t>
            </a:r>
          </a:p>
          <a:p>
            <a:pPr lvl="0" algn="just"/>
            <a:r>
              <a:rPr lang="en-US" sz="2800" dirty="0" smtClean="0">
                <a:latin typeface="Times New Roman" pitchFamily="18" charset="0"/>
                <a:cs typeface="Times New Roman" pitchFamily="18" charset="0"/>
              </a:rPr>
              <a:t>Question should be well designed.</a:t>
            </a:r>
          </a:p>
          <a:p>
            <a:pPr lvl="0" algn="just"/>
            <a:r>
              <a:rPr lang="en-US" sz="2800" dirty="0" smtClean="0">
                <a:latin typeface="Times New Roman" pitchFamily="18" charset="0"/>
                <a:cs typeface="Times New Roman" pitchFamily="18" charset="0"/>
              </a:rPr>
              <a:t>Personal question should be avoided.</a:t>
            </a:r>
          </a:p>
          <a:p>
            <a:pPr marL="0" indent="0" algn="just">
              <a:buNone/>
            </a:pPr>
            <a:endParaRPr lang="en-US" sz="2800" dirty="0">
              <a:latin typeface="Times New Roman" pitchFamily="18" charset="0"/>
              <a:cs typeface="Times New Roman" pitchFamily="18" charset="0"/>
            </a:endParaRP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382000" cy="5791200"/>
          </a:xfrm>
        </p:spPr>
        <p:txBody>
          <a:bodyPr>
            <a:normAutofit fontScale="92500"/>
          </a:bodyPr>
          <a:lstStyle/>
          <a:p>
            <a:pPr>
              <a:buNone/>
            </a:pPr>
            <a:r>
              <a:rPr lang="en-US" b="1" u="sng" dirty="0" smtClean="0">
                <a:solidFill>
                  <a:srgbClr val="0070C0"/>
                </a:solidFill>
              </a:rPr>
              <a:t>Types of questions:</a:t>
            </a:r>
            <a:endParaRPr lang="en-US" dirty="0" smtClean="0">
              <a:solidFill>
                <a:srgbClr val="0070C0"/>
              </a:solidFill>
            </a:endParaRPr>
          </a:p>
          <a:p>
            <a:pPr>
              <a:buNone/>
            </a:pPr>
            <a:r>
              <a:rPr lang="en-US" dirty="0" smtClean="0">
                <a:solidFill>
                  <a:srgbClr val="0070C0"/>
                </a:solidFill>
              </a:rPr>
              <a:t>There are many ways to phrase the questions. We may categories two best types of questions according to amount of freedom respondents are given in answering the questions:</a:t>
            </a:r>
          </a:p>
          <a:p>
            <a:pPr lvl="0">
              <a:buNone/>
            </a:pPr>
            <a:r>
              <a:rPr lang="en-US" dirty="0" smtClean="0">
                <a:solidFill>
                  <a:srgbClr val="0070C0"/>
                </a:solidFill>
              </a:rPr>
              <a:t>a. Open-ended (Unstructured): </a:t>
            </a:r>
          </a:p>
          <a:p>
            <a:pPr lvl="0">
              <a:buNone/>
            </a:pPr>
            <a:r>
              <a:rPr lang="en-US" dirty="0" smtClean="0">
                <a:solidFill>
                  <a:srgbClr val="0070C0"/>
                </a:solidFill>
              </a:rPr>
              <a:t>b. Fixed alternative question: </a:t>
            </a:r>
          </a:p>
          <a:p>
            <a:pPr>
              <a:buNone/>
            </a:pPr>
            <a:r>
              <a:rPr lang="en-US" dirty="0" smtClean="0">
                <a:solidFill>
                  <a:srgbClr val="0070C0"/>
                </a:solidFill>
              </a:rPr>
              <a:t>A structured question may be MCQ or Dichotomous.</a:t>
            </a:r>
          </a:p>
          <a:p>
            <a:pPr lvl="0">
              <a:buNone/>
            </a:pPr>
            <a:r>
              <a:rPr lang="en-US" dirty="0" smtClean="0">
                <a:solidFill>
                  <a:srgbClr val="0070C0"/>
                </a:solidFill>
              </a:rPr>
              <a:t>a. Multiple Choice Questions (MCQ) </a:t>
            </a:r>
          </a:p>
          <a:p>
            <a:pPr lvl="0">
              <a:buNone/>
            </a:pPr>
            <a:r>
              <a:rPr lang="en-US" dirty="0" smtClean="0">
                <a:solidFill>
                  <a:srgbClr val="0070C0"/>
                </a:solidFill>
              </a:rPr>
              <a:t>b. Dichotomous Question:</a:t>
            </a:r>
          </a:p>
          <a:p>
            <a:pPr>
              <a:buNone/>
            </a:pPr>
            <a:r>
              <a:rPr lang="en-US" b="1" dirty="0" smtClean="0">
                <a:solidFill>
                  <a:srgbClr val="0070C0"/>
                </a:solidFill>
              </a:rPr>
              <a:t>Pre-coded and post coded question</a:t>
            </a:r>
            <a:endParaRPr lang="en-US" dirty="0" smtClean="0">
              <a:solidFill>
                <a:srgbClr val="0070C0"/>
              </a:solidFill>
            </a:endParaRPr>
          </a:p>
          <a:p>
            <a:pPr>
              <a:buNone/>
            </a:pPr>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Measurement and Scaling</a:t>
            </a:r>
            <a:r>
              <a:rPr lang="en-US" dirty="0" smtClean="0"/>
              <a:t/>
            </a:r>
            <a:br>
              <a:rPr lang="en-US" dirty="0" smtClean="0"/>
            </a:br>
            <a:endParaRPr lang="en-US" dirty="0"/>
          </a:p>
        </p:txBody>
      </p:sp>
      <p:sp>
        <p:nvSpPr>
          <p:cNvPr id="3" name="Content Placeholder 2"/>
          <p:cNvSpPr>
            <a:spLocks noGrp="1"/>
          </p:cNvSpPr>
          <p:nvPr>
            <p:ph idx="1"/>
          </p:nvPr>
        </p:nvSpPr>
        <p:spPr>
          <a:xfrm>
            <a:off x="228600" y="990600"/>
            <a:ext cx="8686800" cy="5638800"/>
          </a:xfrm>
        </p:spPr>
        <p:txBody>
          <a:bodyPr>
            <a:normAutofit fontScale="92500" lnSpcReduction="20000"/>
          </a:bodyPr>
          <a:lstStyle/>
          <a:p>
            <a:pPr algn="just"/>
            <a:r>
              <a:rPr lang="en-US" dirty="0" smtClean="0">
                <a:solidFill>
                  <a:srgbClr val="0070C0"/>
                </a:solidFill>
              </a:rPr>
              <a:t>A measurement is obtained when a variable is measured on experimental unit. Measurement means assignment of numbers or other symbols to characteristics of objects according to certain pre-specified rules.</a:t>
            </a:r>
          </a:p>
          <a:p>
            <a:pPr algn="just"/>
            <a:r>
              <a:rPr lang="en-US" dirty="0" smtClean="0">
                <a:solidFill>
                  <a:srgbClr val="0070C0"/>
                </a:solidFill>
              </a:rPr>
              <a:t>Scaling may be considered as an extension of measurement. Measurement is the actual assignment of a number to each respondent. Scaling is the process of placing the respondents on a continuum with respect to their attitude toward the object/item/institution. Scaling involves creating a continuum upon which measured object are located. The generation of continuum upon which the measured objects are located is called scaling. </a:t>
            </a:r>
          </a:p>
          <a:p>
            <a:pPr>
              <a:buNone/>
            </a:pPr>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570038"/>
          </a:xfrm>
        </p:spPr>
        <p:txBody>
          <a:bodyPr>
            <a:normAutofit/>
          </a:bodyPr>
          <a:lstStyle/>
          <a:p>
            <a:r>
              <a:rPr lang="en-US" b="1" dirty="0" smtClean="0">
                <a:solidFill>
                  <a:schemeClr val="accent6">
                    <a:lumMod val="75000"/>
                  </a:schemeClr>
                </a:solidFill>
              </a:rPr>
              <a:t>MEASUREMENT AND SCALING</a:t>
            </a:r>
            <a:endParaRPr lang="en-US" dirty="0">
              <a:solidFill>
                <a:schemeClr val="accent6">
                  <a:lumMod val="75000"/>
                </a:schemeClr>
              </a:solidFill>
            </a:endParaRPr>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grpSp>
        <p:nvGrpSpPr>
          <p:cNvPr id="68610" name="Group 2"/>
          <p:cNvGrpSpPr>
            <a:grpSpLocks/>
          </p:cNvGrpSpPr>
          <p:nvPr/>
        </p:nvGrpSpPr>
        <p:grpSpPr bwMode="auto">
          <a:xfrm>
            <a:off x="228600" y="914598"/>
            <a:ext cx="8610600" cy="5714803"/>
            <a:chOff x="471" y="3921"/>
            <a:chExt cx="11532" cy="9124"/>
          </a:xfrm>
        </p:grpSpPr>
        <p:cxnSp>
          <p:nvCxnSpPr>
            <p:cNvPr id="68611" name="AutoShape 3"/>
            <p:cNvCxnSpPr>
              <a:cxnSpLocks noChangeShapeType="1"/>
            </p:cNvCxnSpPr>
            <p:nvPr/>
          </p:nvCxnSpPr>
          <p:spPr bwMode="auto">
            <a:xfrm>
              <a:off x="2383" y="5347"/>
              <a:ext cx="1" cy="531"/>
            </a:xfrm>
            <a:prstGeom prst="straightConnector1">
              <a:avLst/>
            </a:prstGeom>
            <a:noFill/>
            <a:ln w="28575">
              <a:solidFill>
                <a:srgbClr val="0070C0"/>
              </a:solidFill>
              <a:round/>
              <a:headEnd/>
              <a:tailEnd type="triangle" w="med" len="med"/>
            </a:ln>
          </p:spPr>
        </p:cxnSp>
        <p:cxnSp>
          <p:nvCxnSpPr>
            <p:cNvPr id="68612" name="AutoShape 4"/>
            <p:cNvCxnSpPr>
              <a:cxnSpLocks noChangeShapeType="1"/>
            </p:cNvCxnSpPr>
            <p:nvPr/>
          </p:nvCxnSpPr>
          <p:spPr bwMode="auto">
            <a:xfrm>
              <a:off x="5938" y="6880"/>
              <a:ext cx="4944" cy="1"/>
            </a:xfrm>
            <a:prstGeom prst="straightConnector1">
              <a:avLst/>
            </a:prstGeom>
            <a:noFill/>
            <a:ln w="28575">
              <a:solidFill>
                <a:srgbClr val="0070C0"/>
              </a:solidFill>
              <a:round/>
              <a:headEnd/>
              <a:tailEnd/>
            </a:ln>
          </p:spPr>
        </p:cxnSp>
        <p:grpSp>
          <p:nvGrpSpPr>
            <p:cNvPr id="68613" name="Group 5"/>
            <p:cNvGrpSpPr>
              <a:grpSpLocks/>
            </p:cNvGrpSpPr>
            <p:nvPr/>
          </p:nvGrpSpPr>
          <p:grpSpPr bwMode="auto">
            <a:xfrm>
              <a:off x="471" y="3921"/>
              <a:ext cx="11532" cy="9124"/>
              <a:chOff x="471" y="3921"/>
              <a:chExt cx="11532" cy="9124"/>
            </a:xfrm>
          </p:grpSpPr>
          <p:sp>
            <p:nvSpPr>
              <p:cNvPr id="68614" name="Text Box 6"/>
              <p:cNvSpPr txBox="1">
                <a:spLocks noChangeArrowheads="1"/>
              </p:cNvSpPr>
              <p:nvPr/>
            </p:nvSpPr>
            <p:spPr bwMode="auto">
              <a:xfrm>
                <a:off x="4495" y="3921"/>
                <a:ext cx="4320" cy="998"/>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7030A0"/>
                    </a:solidFill>
                    <a:effectLst/>
                    <a:latin typeface="Calibri" pitchFamily="34" charset="0"/>
                    <a:cs typeface="Arial" pitchFamily="34" charset="0"/>
                  </a:rPr>
                  <a:t>Scales of Measurement</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68615" name="AutoShape 7"/>
              <p:cNvCxnSpPr>
                <a:cxnSpLocks noChangeShapeType="1"/>
              </p:cNvCxnSpPr>
              <p:nvPr/>
            </p:nvCxnSpPr>
            <p:spPr bwMode="auto">
              <a:xfrm>
                <a:off x="6837" y="4729"/>
                <a:ext cx="0" cy="576"/>
              </a:xfrm>
              <a:prstGeom prst="straightConnector1">
                <a:avLst/>
              </a:prstGeom>
              <a:noFill/>
              <a:ln w="28575">
                <a:solidFill>
                  <a:srgbClr val="0070C0"/>
                </a:solidFill>
                <a:round/>
                <a:headEnd/>
                <a:tailEnd type="triangle" w="med" len="med"/>
              </a:ln>
            </p:spPr>
          </p:cxnSp>
          <p:cxnSp>
            <p:nvCxnSpPr>
              <p:cNvPr id="68616" name="AutoShape 8"/>
              <p:cNvCxnSpPr>
                <a:cxnSpLocks noChangeShapeType="1"/>
              </p:cNvCxnSpPr>
              <p:nvPr/>
            </p:nvCxnSpPr>
            <p:spPr bwMode="auto">
              <a:xfrm flipV="1">
                <a:off x="2385" y="5259"/>
                <a:ext cx="8497" cy="74"/>
              </a:xfrm>
              <a:prstGeom prst="straightConnector1">
                <a:avLst/>
              </a:prstGeom>
              <a:noFill/>
              <a:ln w="28575">
                <a:solidFill>
                  <a:srgbClr val="0070C0"/>
                </a:solidFill>
                <a:round/>
                <a:headEnd/>
                <a:tailEnd/>
              </a:ln>
            </p:spPr>
          </p:cxnSp>
          <p:cxnSp>
            <p:nvCxnSpPr>
              <p:cNvPr id="68617" name="AutoShape 9"/>
              <p:cNvCxnSpPr>
                <a:cxnSpLocks noChangeShapeType="1"/>
              </p:cNvCxnSpPr>
              <p:nvPr/>
            </p:nvCxnSpPr>
            <p:spPr bwMode="auto">
              <a:xfrm>
                <a:off x="6837" y="5310"/>
                <a:ext cx="0" cy="546"/>
              </a:xfrm>
              <a:prstGeom prst="straightConnector1">
                <a:avLst/>
              </a:prstGeom>
              <a:noFill/>
              <a:ln w="28575">
                <a:solidFill>
                  <a:srgbClr val="0070C0"/>
                </a:solidFill>
                <a:round/>
                <a:headEnd/>
                <a:tailEnd type="triangle" w="med" len="med"/>
              </a:ln>
            </p:spPr>
          </p:cxnSp>
          <p:cxnSp>
            <p:nvCxnSpPr>
              <p:cNvPr id="68618" name="AutoShape 10"/>
              <p:cNvCxnSpPr>
                <a:cxnSpLocks noChangeShapeType="1"/>
              </p:cNvCxnSpPr>
              <p:nvPr/>
            </p:nvCxnSpPr>
            <p:spPr bwMode="auto">
              <a:xfrm>
                <a:off x="10882" y="5244"/>
                <a:ext cx="0" cy="634"/>
              </a:xfrm>
              <a:prstGeom prst="straightConnector1">
                <a:avLst/>
              </a:prstGeom>
              <a:noFill/>
              <a:ln w="28575">
                <a:solidFill>
                  <a:srgbClr val="0070C0"/>
                </a:solidFill>
                <a:round/>
                <a:headEnd/>
                <a:tailEnd type="triangle" w="med" len="med"/>
              </a:ln>
            </p:spPr>
          </p:cxnSp>
          <p:sp>
            <p:nvSpPr>
              <p:cNvPr id="68619" name="Text Box 11"/>
              <p:cNvSpPr txBox="1">
                <a:spLocks noChangeArrowheads="1"/>
              </p:cNvSpPr>
              <p:nvPr/>
            </p:nvSpPr>
            <p:spPr bwMode="auto">
              <a:xfrm>
                <a:off x="1523" y="5879"/>
                <a:ext cx="2003" cy="56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Primary Scales</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20" name="Text Box 12"/>
              <p:cNvSpPr txBox="1">
                <a:spLocks noChangeArrowheads="1"/>
              </p:cNvSpPr>
              <p:nvPr/>
            </p:nvSpPr>
            <p:spPr bwMode="auto">
              <a:xfrm>
                <a:off x="5609" y="5842"/>
                <a:ext cx="2475" cy="510"/>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Comparative Scales</a:t>
                </a:r>
                <a:endParaRPr kumimoji="0" lang="en-US" sz="18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21" name="Text Box 13"/>
              <p:cNvSpPr txBox="1">
                <a:spLocks noChangeArrowheads="1"/>
              </p:cNvSpPr>
              <p:nvPr/>
            </p:nvSpPr>
            <p:spPr bwMode="auto">
              <a:xfrm>
                <a:off x="9393" y="5893"/>
                <a:ext cx="2610" cy="450"/>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Non-Comparative Scales</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cxnSp>
            <p:nvCxnSpPr>
              <p:cNvPr id="68622" name="AutoShape 14"/>
              <p:cNvCxnSpPr>
                <a:cxnSpLocks noChangeShapeType="1"/>
              </p:cNvCxnSpPr>
              <p:nvPr/>
            </p:nvCxnSpPr>
            <p:spPr bwMode="auto">
              <a:xfrm>
                <a:off x="2482" y="6285"/>
                <a:ext cx="1" cy="343"/>
              </a:xfrm>
              <a:prstGeom prst="straightConnector1">
                <a:avLst/>
              </a:prstGeom>
              <a:noFill/>
              <a:ln w="28575">
                <a:solidFill>
                  <a:srgbClr val="0070C0"/>
                </a:solidFill>
                <a:round/>
                <a:headEnd/>
                <a:tailEnd type="triangle" w="med" len="med"/>
              </a:ln>
            </p:spPr>
          </p:cxnSp>
          <p:cxnSp>
            <p:nvCxnSpPr>
              <p:cNvPr id="68623" name="AutoShape 15"/>
              <p:cNvCxnSpPr>
                <a:cxnSpLocks noChangeShapeType="1"/>
              </p:cNvCxnSpPr>
              <p:nvPr/>
            </p:nvCxnSpPr>
            <p:spPr bwMode="auto">
              <a:xfrm>
                <a:off x="1370" y="6667"/>
                <a:ext cx="2625" cy="0"/>
              </a:xfrm>
              <a:prstGeom prst="straightConnector1">
                <a:avLst/>
              </a:prstGeom>
              <a:noFill/>
              <a:ln w="28575">
                <a:solidFill>
                  <a:srgbClr val="0070C0"/>
                </a:solidFill>
                <a:round/>
                <a:headEnd/>
                <a:tailEnd/>
              </a:ln>
            </p:spPr>
          </p:cxnSp>
          <p:cxnSp>
            <p:nvCxnSpPr>
              <p:cNvPr id="68624" name="AutoShape 16"/>
              <p:cNvCxnSpPr>
                <a:cxnSpLocks noChangeShapeType="1"/>
              </p:cNvCxnSpPr>
              <p:nvPr/>
            </p:nvCxnSpPr>
            <p:spPr bwMode="auto">
              <a:xfrm>
                <a:off x="1370" y="6667"/>
                <a:ext cx="1" cy="630"/>
              </a:xfrm>
              <a:prstGeom prst="straightConnector1">
                <a:avLst/>
              </a:prstGeom>
              <a:noFill/>
              <a:ln w="28575">
                <a:solidFill>
                  <a:srgbClr val="0070C0"/>
                </a:solidFill>
                <a:round/>
                <a:headEnd/>
                <a:tailEnd type="triangle" w="med" len="med"/>
              </a:ln>
            </p:spPr>
          </p:cxnSp>
          <p:cxnSp>
            <p:nvCxnSpPr>
              <p:cNvPr id="68625" name="AutoShape 17"/>
              <p:cNvCxnSpPr>
                <a:cxnSpLocks noChangeShapeType="1"/>
              </p:cNvCxnSpPr>
              <p:nvPr/>
            </p:nvCxnSpPr>
            <p:spPr bwMode="auto">
              <a:xfrm>
                <a:off x="3995" y="6667"/>
                <a:ext cx="0" cy="630"/>
              </a:xfrm>
              <a:prstGeom prst="straightConnector1">
                <a:avLst/>
              </a:prstGeom>
              <a:noFill/>
              <a:ln w="28575">
                <a:solidFill>
                  <a:srgbClr val="0070C0"/>
                </a:solidFill>
                <a:round/>
                <a:headEnd/>
                <a:tailEnd type="triangle" w="med" len="med"/>
              </a:ln>
            </p:spPr>
          </p:cxnSp>
          <p:sp>
            <p:nvSpPr>
              <p:cNvPr id="68626" name="Text Box 18"/>
              <p:cNvSpPr txBox="1">
                <a:spLocks noChangeArrowheads="1"/>
              </p:cNvSpPr>
              <p:nvPr/>
            </p:nvSpPr>
            <p:spPr bwMode="auto">
              <a:xfrm>
                <a:off x="923" y="7299"/>
                <a:ext cx="1560" cy="46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Qualitative</a:t>
                </a:r>
                <a:r>
                  <a:rPr kumimoji="0" lang="en-US" sz="1100" b="0" i="0" u="none" strike="noStrike" cap="none" normalizeH="0" baseline="0" dirty="0" smtClean="0">
                    <a:ln>
                      <a:noFill/>
                    </a:ln>
                    <a:solidFill>
                      <a:schemeClr val="tx1"/>
                    </a:solidFill>
                    <a:effectLst/>
                    <a:latin typeface="Calibri"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8627" name="Text Box 19"/>
              <p:cNvSpPr txBox="1">
                <a:spLocks noChangeArrowheads="1"/>
              </p:cNvSpPr>
              <p:nvPr/>
            </p:nvSpPr>
            <p:spPr bwMode="auto">
              <a:xfrm>
                <a:off x="3114" y="7288"/>
                <a:ext cx="1920" cy="46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Quantitative</a:t>
                </a:r>
                <a:r>
                  <a:rPr kumimoji="0" lang="en-US" sz="1100" b="0" i="0" u="none" strike="noStrike" cap="none" normalizeH="0" baseline="0" dirty="0" smtClean="0">
                    <a:ln>
                      <a:noFill/>
                    </a:ln>
                    <a:solidFill>
                      <a:schemeClr val="tx1"/>
                    </a:solidFill>
                    <a:effectLst/>
                    <a:latin typeface="Calibri"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68628" name="AutoShape 20"/>
              <p:cNvCxnSpPr>
                <a:cxnSpLocks noChangeShapeType="1"/>
              </p:cNvCxnSpPr>
              <p:nvPr/>
            </p:nvCxnSpPr>
            <p:spPr bwMode="auto">
              <a:xfrm>
                <a:off x="1746" y="7811"/>
                <a:ext cx="15" cy="417"/>
              </a:xfrm>
              <a:prstGeom prst="straightConnector1">
                <a:avLst/>
              </a:prstGeom>
              <a:noFill/>
              <a:ln w="28575">
                <a:solidFill>
                  <a:srgbClr val="0070C0"/>
                </a:solidFill>
                <a:round/>
                <a:headEnd/>
                <a:tailEnd type="triangle" w="med" len="med"/>
              </a:ln>
            </p:spPr>
          </p:cxnSp>
          <p:cxnSp>
            <p:nvCxnSpPr>
              <p:cNvPr id="68629" name="AutoShape 21"/>
              <p:cNvCxnSpPr>
                <a:cxnSpLocks noChangeShapeType="1"/>
              </p:cNvCxnSpPr>
              <p:nvPr/>
            </p:nvCxnSpPr>
            <p:spPr bwMode="auto">
              <a:xfrm>
                <a:off x="923" y="8231"/>
                <a:ext cx="1755" cy="1"/>
              </a:xfrm>
              <a:prstGeom prst="straightConnector1">
                <a:avLst/>
              </a:prstGeom>
              <a:noFill/>
              <a:ln w="28575">
                <a:solidFill>
                  <a:srgbClr val="0070C0"/>
                </a:solidFill>
                <a:round/>
                <a:headEnd/>
                <a:tailEnd/>
              </a:ln>
            </p:spPr>
          </p:cxnSp>
          <p:cxnSp>
            <p:nvCxnSpPr>
              <p:cNvPr id="68630" name="AutoShape 22"/>
              <p:cNvCxnSpPr>
                <a:cxnSpLocks noChangeShapeType="1"/>
              </p:cNvCxnSpPr>
              <p:nvPr/>
            </p:nvCxnSpPr>
            <p:spPr bwMode="auto">
              <a:xfrm>
                <a:off x="923" y="8207"/>
                <a:ext cx="1" cy="717"/>
              </a:xfrm>
              <a:prstGeom prst="straightConnector1">
                <a:avLst/>
              </a:prstGeom>
              <a:noFill/>
              <a:ln w="28575">
                <a:solidFill>
                  <a:srgbClr val="0070C0"/>
                </a:solidFill>
                <a:round/>
                <a:headEnd/>
                <a:tailEnd type="triangle" w="med" len="med"/>
              </a:ln>
            </p:spPr>
          </p:cxnSp>
          <p:cxnSp>
            <p:nvCxnSpPr>
              <p:cNvPr id="68631" name="AutoShape 23"/>
              <p:cNvCxnSpPr>
                <a:cxnSpLocks noChangeShapeType="1"/>
              </p:cNvCxnSpPr>
              <p:nvPr/>
            </p:nvCxnSpPr>
            <p:spPr bwMode="auto">
              <a:xfrm>
                <a:off x="2678" y="8231"/>
                <a:ext cx="1" cy="631"/>
              </a:xfrm>
              <a:prstGeom prst="straightConnector1">
                <a:avLst/>
              </a:prstGeom>
              <a:noFill/>
              <a:ln w="28575">
                <a:solidFill>
                  <a:srgbClr val="0070C0"/>
                </a:solidFill>
                <a:round/>
                <a:headEnd/>
                <a:tailEnd type="triangle" w="med" len="med"/>
              </a:ln>
            </p:spPr>
          </p:cxnSp>
          <p:sp>
            <p:nvSpPr>
              <p:cNvPr id="68632" name="Text Box 24"/>
              <p:cNvSpPr txBox="1">
                <a:spLocks noChangeArrowheads="1"/>
              </p:cNvSpPr>
              <p:nvPr/>
            </p:nvSpPr>
            <p:spPr bwMode="auto">
              <a:xfrm>
                <a:off x="471" y="8925"/>
                <a:ext cx="1281" cy="520"/>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smtClean="0">
                    <a:ln>
                      <a:noFill/>
                    </a:ln>
                    <a:solidFill>
                      <a:schemeClr val="tx1"/>
                    </a:solidFill>
                    <a:effectLst/>
                    <a:latin typeface="Calibri" pitchFamily="34" charset="0"/>
                    <a:cs typeface="Arial" pitchFamily="34" charset="0"/>
                  </a:rPr>
                  <a:t>Nominal</a:t>
                </a:r>
                <a:endParaRPr kumimoji="0" lang="en-US" sz="2400" b="1" i="0" u="none" strike="noStrike" cap="none" normalizeH="0" baseline="0" smtClean="0">
                  <a:ln>
                    <a:noFill/>
                  </a:ln>
                  <a:solidFill>
                    <a:schemeClr val="tx1"/>
                  </a:solidFill>
                  <a:effectLst/>
                  <a:latin typeface="Arial" pitchFamily="34" charset="0"/>
                  <a:cs typeface="Arial" pitchFamily="34" charset="0"/>
                </a:endParaRPr>
              </a:p>
            </p:txBody>
          </p:sp>
          <p:sp>
            <p:nvSpPr>
              <p:cNvPr id="68633" name="Text Box 25"/>
              <p:cNvSpPr txBox="1">
                <a:spLocks noChangeArrowheads="1"/>
              </p:cNvSpPr>
              <p:nvPr/>
            </p:nvSpPr>
            <p:spPr bwMode="auto">
              <a:xfrm>
                <a:off x="1945" y="8891"/>
                <a:ext cx="1095" cy="46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Ordinal</a:t>
                </a:r>
                <a:endParaRPr kumimoji="0" lang="en-US" sz="1800" b="1" i="0" u="none" strike="noStrike" cap="none" normalizeH="0" baseline="0" dirty="0" smtClean="0">
                  <a:ln>
                    <a:noFill/>
                  </a:ln>
                  <a:solidFill>
                    <a:schemeClr val="tx1"/>
                  </a:solidFill>
                  <a:effectLst/>
                  <a:latin typeface="Arial" pitchFamily="34" charset="0"/>
                  <a:cs typeface="Arial" pitchFamily="34" charset="0"/>
                </a:endParaRPr>
              </a:p>
            </p:txBody>
          </p:sp>
          <p:cxnSp>
            <p:nvCxnSpPr>
              <p:cNvPr id="68634" name="AutoShape 26"/>
              <p:cNvCxnSpPr>
                <a:cxnSpLocks noChangeShapeType="1"/>
              </p:cNvCxnSpPr>
              <p:nvPr/>
            </p:nvCxnSpPr>
            <p:spPr bwMode="auto">
              <a:xfrm>
                <a:off x="4222" y="7763"/>
                <a:ext cx="0" cy="615"/>
              </a:xfrm>
              <a:prstGeom prst="straightConnector1">
                <a:avLst/>
              </a:prstGeom>
              <a:noFill/>
              <a:ln w="28575">
                <a:solidFill>
                  <a:srgbClr val="0070C0"/>
                </a:solidFill>
                <a:round/>
                <a:headEnd/>
                <a:tailEnd type="triangle" w="med" len="med"/>
              </a:ln>
            </p:spPr>
          </p:cxnSp>
          <p:cxnSp>
            <p:nvCxnSpPr>
              <p:cNvPr id="68635" name="AutoShape 27"/>
              <p:cNvCxnSpPr>
                <a:cxnSpLocks noChangeShapeType="1"/>
              </p:cNvCxnSpPr>
              <p:nvPr/>
            </p:nvCxnSpPr>
            <p:spPr bwMode="auto">
              <a:xfrm>
                <a:off x="3541" y="8383"/>
                <a:ext cx="1785" cy="0"/>
              </a:xfrm>
              <a:prstGeom prst="straightConnector1">
                <a:avLst/>
              </a:prstGeom>
              <a:noFill/>
              <a:ln w="28575">
                <a:solidFill>
                  <a:srgbClr val="0070C0"/>
                </a:solidFill>
                <a:round/>
                <a:headEnd/>
                <a:tailEnd/>
              </a:ln>
            </p:spPr>
          </p:cxnSp>
          <p:cxnSp>
            <p:nvCxnSpPr>
              <p:cNvPr id="68636" name="AutoShape 28"/>
              <p:cNvCxnSpPr>
                <a:cxnSpLocks noChangeShapeType="1"/>
              </p:cNvCxnSpPr>
              <p:nvPr/>
            </p:nvCxnSpPr>
            <p:spPr bwMode="auto">
              <a:xfrm>
                <a:off x="3541" y="8378"/>
                <a:ext cx="1" cy="496"/>
              </a:xfrm>
              <a:prstGeom prst="straightConnector1">
                <a:avLst/>
              </a:prstGeom>
              <a:noFill/>
              <a:ln w="28575">
                <a:solidFill>
                  <a:srgbClr val="0070C0"/>
                </a:solidFill>
                <a:round/>
                <a:headEnd/>
                <a:tailEnd type="triangle" w="med" len="med"/>
              </a:ln>
            </p:spPr>
          </p:cxnSp>
          <p:cxnSp>
            <p:nvCxnSpPr>
              <p:cNvPr id="68637" name="AutoShape 29"/>
              <p:cNvCxnSpPr>
                <a:cxnSpLocks noChangeShapeType="1"/>
              </p:cNvCxnSpPr>
              <p:nvPr/>
            </p:nvCxnSpPr>
            <p:spPr bwMode="auto">
              <a:xfrm>
                <a:off x="5336" y="8384"/>
                <a:ext cx="1" cy="464"/>
              </a:xfrm>
              <a:prstGeom prst="straightConnector1">
                <a:avLst/>
              </a:prstGeom>
              <a:noFill/>
              <a:ln w="28575">
                <a:solidFill>
                  <a:srgbClr val="0070C0"/>
                </a:solidFill>
                <a:round/>
                <a:headEnd/>
                <a:tailEnd type="triangle" w="med" len="med"/>
              </a:ln>
            </p:spPr>
          </p:cxnSp>
          <p:sp>
            <p:nvSpPr>
              <p:cNvPr id="68638" name="Text Box 30"/>
              <p:cNvSpPr txBox="1">
                <a:spLocks noChangeArrowheads="1"/>
              </p:cNvSpPr>
              <p:nvPr/>
            </p:nvSpPr>
            <p:spPr bwMode="auto">
              <a:xfrm>
                <a:off x="3220" y="8903"/>
                <a:ext cx="1275" cy="453"/>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Interval</a:t>
                </a:r>
                <a:endParaRPr kumimoji="0" lang="en-US" sz="18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39" name="Text Box 31"/>
              <p:cNvSpPr txBox="1">
                <a:spLocks noChangeArrowheads="1"/>
              </p:cNvSpPr>
              <p:nvPr/>
            </p:nvSpPr>
            <p:spPr bwMode="auto">
              <a:xfrm>
                <a:off x="4782" y="8893"/>
                <a:ext cx="930" cy="43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smtClean="0">
                    <a:ln>
                      <a:noFill/>
                    </a:ln>
                    <a:solidFill>
                      <a:schemeClr val="tx1"/>
                    </a:solidFill>
                    <a:effectLst/>
                    <a:latin typeface="Calibri" pitchFamily="34" charset="0"/>
                    <a:cs typeface="Arial" pitchFamily="34" charset="0"/>
                  </a:rPr>
                  <a:t>Ratio</a:t>
                </a:r>
                <a:endParaRPr kumimoji="0" lang="en-US" sz="2400" b="1" i="0" u="none" strike="noStrike" cap="none" normalizeH="0" baseline="0" smtClean="0">
                  <a:ln>
                    <a:noFill/>
                  </a:ln>
                  <a:solidFill>
                    <a:schemeClr val="tx1"/>
                  </a:solidFill>
                  <a:effectLst/>
                  <a:latin typeface="Arial" pitchFamily="34" charset="0"/>
                  <a:cs typeface="Arial" pitchFamily="34" charset="0"/>
                </a:endParaRPr>
              </a:p>
            </p:txBody>
          </p:sp>
          <p:cxnSp>
            <p:nvCxnSpPr>
              <p:cNvPr id="68640" name="AutoShape 32"/>
              <p:cNvCxnSpPr>
                <a:cxnSpLocks noChangeShapeType="1"/>
              </p:cNvCxnSpPr>
              <p:nvPr/>
            </p:nvCxnSpPr>
            <p:spPr bwMode="auto">
              <a:xfrm>
                <a:off x="6745" y="6383"/>
                <a:ext cx="1" cy="450"/>
              </a:xfrm>
              <a:prstGeom prst="straightConnector1">
                <a:avLst/>
              </a:prstGeom>
              <a:noFill/>
              <a:ln w="28575">
                <a:solidFill>
                  <a:srgbClr val="0070C0"/>
                </a:solidFill>
                <a:round/>
                <a:headEnd/>
                <a:tailEnd type="triangle" w="med" len="med"/>
              </a:ln>
            </p:spPr>
          </p:cxnSp>
          <p:sp>
            <p:nvSpPr>
              <p:cNvPr id="68641" name="Text Box 33"/>
              <p:cNvSpPr txBox="1">
                <a:spLocks noChangeArrowheads="1"/>
              </p:cNvSpPr>
              <p:nvPr/>
            </p:nvSpPr>
            <p:spPr bwMode="auto">
              <a:xfrm>
                <a:off x="5397" y="7565"/>
                <a:ext cx="1440" cy="747"/>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Paired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Comparison </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42" name="Text Box 34"/>
              <p:cNvSpPr txBox="1">
                <a:spLocks noChangeArrowheads="1"/>
              </p:cNvSpPr>
              <p:nvPr/>
            </p:nvSpPr>
            <p:spPr bwMode="auto">
              <a:xfrm>
                <a:off x="6976" y="7644"/>
                <a:ext cx="1350" cy="49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Rank Order</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43" name="Text Box 35"/>
              <p:cNvSpPr txBox="1">
                <a:spLocks noChangeArrowheads="1"/>
              </p:cNvSpPr>
              <p:nvPr/>
            </p:nvSpPr>
            <p:spPr bwMode="auto">
              <a:xfrm>
                <a:off x="8508" y="7674"/>
                <a:ext cx="1628" cy="49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Constant Sum</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cxnSp>
            <p:nvCxnSpPr>
              <p:cNvPr id="68644" name="AutoShape 36"/>
              <p:cNvCxnSpPr>
                <a:cxnSpLocks noChangeShapeType="1"/>
              </p:cNvCxnSpPr>
              <p:nvPr/>
            </p:nvCxnSpPr>
            <p:spPr bwMode="auto">
              <a:xfrm>
                <a:off x="5937" y="6880"/>
                <a:ext cx="1" cy="685"/>
              </a:xfrm>
              <a:prstGeom prst="straightConnector1">
                <a:avLst/>
              </a:prstGeom>
              <a:noFill/>
              <a:ln w="28575">
                <a:solidFill>
                  <a:srgbClr val="0070C0"/>
                </a:solidFill>
                <a:round/>
                <a:headEnd/>
                <a:tailEnd type="triangle" w="med" len="med"/>
              </a:ln>
            </p:spPr>
          </p:cxnSp>
          <p:cxnSp>
            <p:nvCxnSpPr>
              <p:cNvPr id="68645" name="AutoShape 37"/>
              <p:cNvCxnSpPr>
                <a:cxnSpLocks noChangeShapeType="1"/>
              </p:cNvCxnSpPr>
              <p:nvPr/>
            </p:nvCxnSpPr>
            <p:spPr bwMode="auto">
              <a:xfrm flipH="1">
                <a:off x="7333" y="6880"/>
                <a:ext cx="15" cy="810"/>
              </a:xfrm>
              <a:prstGeom prst="straightConnector1">
                <a:avLst/>
              </a:prstGeom>
              <a:noFill/>
              <a:ln w="28575">
                <a:solidFill>
                  <a:srgbClr val="0070C0"/>
                </a:solidFill>
                <a:round/>
                <a:headEnd/>
                <a:tailEnd type="triangle" w="med" len="med"/>
              </a:ln>
            </p:spPr>
          </p:cxnSp>
          <p:cxnSp>
            <p:nvCxnSpPr>
              <p:cNvPr id="68646" name="AutoShape 38"/>
              <p:cNvCxnSpPr>
                <a:cxnSpLocks noChangeShapeType="1"/>
              </p:cNvCxnSpPr>
              <p:nvPr/>
            </p:nvCxnSpPr>
            <p:spPr bwMode="auto">
              <a:xfrm>
                <a:off x="9045" y="6880"/>
                <a:ext cx="0" cy="810"/>
              </a:xfrm>
              <a:prstGeom prst="straightConnector1">
                <a:avLst/>
              </a:prstGeom>
              <a:noFill/>
              <a:ln w="28575">
                <a:solidFill>
                  <a:srgbClr val="0070C0"/>
                </a:solidFill>
                <a:round/>
                <a:headEnd/>
                <a:tailEnd type="triangle" w="med" len="med"/>
              </a:ln>
            </p:spPr>
          </p:cxnSp>
          <p:cxnSp>
            <p:nvCxnSpPr>
              <p:cNvPr id="68647" name="AutoShape 39"/>
              <p:cNvCxnSpPr>
                <a:cxnSpLocks noChangeShapeType="1"/>
              </p:cNvCxnSpPr>
              <p:nvPr/>
            </p:nvCxnSpPr>
            <p:spPr bwMode="auto">
              <a:xfrm>
                <a:off x="10854" y="6880"/>
                <a:ext cx="1" cy="757"/>
              </a:xfrm>
              <a:prstGeom prst="straightConnector1">
                <a:avLst/>
              </a:prstGeom>
              <a:noFill/>
              <a:ln w="28575">
                <a:solidFill>
                  <a:srgbClr val="0070C0"/>
                </a:solidFill>
                <a:round/>
                <a:headEnd/>
                <a:tailEnd type="triangle" w="med" len="med"/>
              </a:ln>
            </p:spPr>
          </p:cxnSp>
          <p:sp>
            <p:nvSpPr>
              <p:cNvPr id="68648" name="Text Box 40"/>
              <p:cNvSpPr txBox="1">
                <a:spLocks noChangeArrowheads="1"/>
              </p:cNvSpPr>
              <p:nvPr/>
            </p:nvSpPr>
            <p:spPr bwMode="auto">
              <a:xfrm>
                <a:off x="10341" y="7637"/>
                <a:ext cx="1033" cy="418"/>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smtClean="0">
                    <a:ln>
                      <a:noFill/>
                    </a:ln>
                    <a:solidFill>
                      <a:schemeClr val="tx1"/>
                    </a:solidFill>
                    <a:effectLst/>
                    <a:latin typeface="Calibri" pitchFamily="34" charset="0"/>
                    <a:cs typeface="Arial" pitchFamily="34" charset="0"/>
                  </a:rPr>
                  <a:t>Q-Sort</a:t>
                </a:r>
                <a:endParaRPr kumimoji="0" lang="en-US" sz="2400" b="1" i="0" u="none" strike="noStrike" cap="none" normalizeH="0" baseline="0" smtClean="0">
                  <a:ln>
                    <a:noFill/>
                  </a:ln>
                  <a:solidFill>
                    <a:schemeClr val="tx1"/>
                  </a:solidFill>
                  <a:effectLst/>
                  <a:latin typeface="Arial" pitchFamily="34" charset="0"/>
                  <a:cs typeface="Arial" pitchFamily="34" charset="0"/>
                </a:endParaRPr>
              </a:p>
            </p:txBody>
          </p:sp>
          <p:cxnSp>
            <p:nvCxnSpPr>
              <p:cNvPr id="68649" name="AutoShape 41"/>
              <p:cNvCxnSpPr>
                <a:cxnSpLocks noChangeShapeType="1"/>
              </p:cNvCxnSpPr>
              <p:nvPr/>
            </p:nvCxnSpPr>
            <p:spPr bwMode="auto">
              <a:xfrm>
                <a:off x="11413" y="6343"/>
                <a:ext cx="0" cy="4540"/>
              </a:xfrm>
              <a:prstGeom prst="straightConnector1">
                <a:avLst/>
              </a:prstGeom>
              <a:noFill/>
              <a:ln w="28575">
                <a:solidFill>
                  <a:srgbClr val="0070C0"/>
                </a:solidFill>
                <a:round/>
                <a:headEnd/>
                <a:tailEnd type="triangle" w="med" len="med"/>
              </a:ln>
            </p:spPr>
          </p:cxnSp>
          <p:cxnSp>
            <p:nvCxnSpPr>
              <p:cNvPr id="68650" name="AutoShape 42"/>
              <p:cNvCxnSpPr>
                <a:cxnSpLocks noChangeShapeType="1"/>
              </p:cNvCxnSpPr>
              <p:nvPr/>
            </p:nvCxnSpPr>
            <p:spPr bwMode="auto">
              <a:xfrm>
                <a:off x="6734" y="10864"/>
                <a:ext cx="4773" cy="19"/>
              </a:xfrm>
              <a:prstGeom prst="straightConnector1">
                <a:avLst/>
              </a:prstGeom>
              <a:noFill/>
              <a:ln w="28575">
                <a:solidFill>
                  <a:srgbClr val="0070C0"/>
                </a:solidFill>
                <a:round/>
                <a:headEnd/>
                <a:tailEnd/>
              </a:ln>
            </p:spPr>
          </p:cxnSp>
          <p:cxnSp>
            <p:nvCxnSpPr>
              <p:cNvPr id="68651" name="AutoShape 43"/>
              <p:cNvCxnSpPr>
                <a:cxnSpLocks noChangeShapeType="1"/>
              </p:cNvCxnSpPr>
              <p:nvPr/>
            </p:nvCxnSpPr>
            <p:spPr bwMode="auto">
              <a:xfrm>
                <a:off x="6748" y="10879"/>
                <a:ext cx="1" cy="874"/>
              </a:xfrm>
              <a:prstGeom prst="straightConnector1">
                <a:avLst/>
              </a:prstGeom>
              <a:noFill/>
              <a:ln w="28575">
                <a:solidFill>
                  <a:srgbClr val="0070C0"/>
                </a:solidFill>
                <a:round/>
                <a:headEnd/>
                <a:tailEnd type="triangle" w="med" len="med"/>
              </a:ln>
            </p:spPr>
          </p:cxnSp>
          <p:cxnSp>
            <p:nvCxnSpPr>
              <p:cNvPr id="68652" name="AutoShape 44"/>
              <p:cNvCxnSpPr>
                <a:cxnSpLocks noChangeShapeType="1"/>
              </p:cNvCxnSpPr>
              <p:nvPr/>
            </p:nvCxnSpPr>
            <p:spPr bwMode="auto">
              <a:xfrm>
                <a:off x="9153" y="10883"/>
                <a:ext cx="0" cy="780"/>
              </a:xfrm>
              <a:prstGeom prst="straightConnector1">
                <a:avLst/>
              </a:prstGeom>
              <a:noFill/>
              <a:ln w="28575">
                <a:solidFill>
                  <a:srgbClr val="0070C0"/>
                </a:solidFill>
                <a:round/>
                <a:headEnd/>
                <a:tailEnd type="triangle" w="med" len="med"/>
              </a:ln>
            </p:spPr>
          </p:cxnSp>
          <p:sp>
            <p:nvSpPr>
              <p:cNvPr id="68653" name="Text Box 45"/>
              <p:cNvSpPr txBox="1">
                <a:spLocks noChangeArrowheads="1"/>
              </p:cNvSpPr>
              <p:nvPr/>
            </p:nvSpPr>
            <p:spPr bwMode="auto">
              <a:xfrm>
                <a:off x="7976" y="11720"/>
                <a:ext cx="2160" cy="132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cs typeface="Arial" pitchFamily="34" charset="0"/>
                  </a:rPr>
                  <a:t>Semantic differentials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cs typeface="Arial" pitchFamily="34" charset="0"/>
                  </a:rPr>
                  <a:t>(7points)</a:t>
                </a:r>
                <a:endParaRPr kumimoji="0" lang="en-US" sz="28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54" name="Text Box 46"/>
              <p:cNvSpPr txBox="1">
                <a:spLocks noChangeArrowheads="1"/>
              </p:cNvSpPr>
              <p:nvPr/>
            </p:nvSpPr>
            <p:spPr bwMode="auto">
              <a:xfrm>
                <a:off x="10393" y="11663"/>
                <a:ext cx="1440" cy="79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Staple (10points)</a:t>
                </a:r>
                <a:endParaRPr kumimoji="0" lang="en-US" sz="1800" b="1" i="0" u="none" strike="noStrike" cap="none" normalizeH="0" baseline="0" dirty="0" smtClean="0">
                  <a:ln>
                    <a:noFill/>
                  </a:ln>
                  <a:solidFill>
                    <a:schemeClr val="tx1"/>
                  </a:solidFill>
                  <a:effectLst/>
                  <a:latin typeface="Arial" pitchFamily="34" charset="0"/>
                  <a:cs typeface="Arial" pitchFamily="34" charset="0"/>
                </a:endParaRPr>
              </a:p>
            </p:txBody>
          </p:sp>
          <p:sp>
            <p:nvSpPr>
              <p:cNvPr id="68655" name="Text Box 47"/>
              <p:cNvSpPr txBox="1">
                <a:spLocks noChangeArrowheads="1"/>
              </p:cNvSpPr>
              <p:nvPr/>
            </p:nvSpPr>
            <p:spPr bwMode="auto">
              <a:xfrm>
                <a:off x="5810" y="11768"/>
                <a:ext cx="1770" cy="825"/>
              </a:xfrm>
              <a:prstGeom prst="rect">
                <a:avLst/>
              </a:prstGeom>
              <a:solidFill>
                <a:srgbClr val="DBE5F1"/>
              </a:solidFill>
              <a:ln w="28575">
                <a:solidFill>
                  <a:srgbClr val="0070C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chemeClr val="tx1"/>
                    </a:solidFill>
                    <a:effectLst/>
                    <a:latin typeface="Calibri" pitchFamily="34" charset="0"/>
                    <a:cs typeface="Arial" pitchFamily="34" charset="0"/>
                  </a:rPr>
                  <a:t>Likert</a:t>
                </a:r>
                <a:r>
                  <a:rPr kumimoji="0" lang="en-US" sz="1400" b="1" i="0" u="none" strike="noStrike" cap="none" normalizeH="0" baseline="0" dirty="0" smtClean="0">
                    <a:ln>
                      <a:noFill/>
                    </a:ln>
                    <a:solidFill>
                      <a:schemeClr val="tx1"/>
                    </a:solidFill>
                    <a:effectLst/>
                    <a:latin typeface="Calibri" pitchFamily="34" charset="0"/>
                    <a:cs typeface="Arial" pitchFamily="34" charset="0"/>
                  </a:rPr>
                  <a:t> Scale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Arial" pitchFamily="34" charset="0"/>
                  </a:rPr>
                  <a:t>(5points)</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cxnSp>
            <p:nvCxnSpPr>
              <p:cNvPr id="68656" name="AutoShape 48"/>
              <p:cNvCxnSpPr>
                <a:cxnSpLocks noChangeShapeType="1"/>
              </p:cNvCxnSpPr>
              <p:nvPr/>
            </p:nvCxnSpPr>
            <p:spPr bwMode="auto">
              <a:xfrm flipH="1">
                <a:off x="11506" y="10879"/>
                <a:ext cx="1" cy="780"/>
              </a:xfrm>
              <a:prstGeom prst="straightConnector1">
                <a:avLst/>
              </a:prstGeom>
              <a:noFill/>
              <a:ln w="28575">
                <a:solidFill>
                  <a:srgbClr val="0070C0"/>
                </a:solidFill>
                <a:round/>
                <a:headEnd/>
                <a:tailEnd type="triangle" w="med" len="med"/>
              </a:ln>
            </p:spPr>
          </p:cxnSp>
        </p:gr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US" sz="3100" b="1" dirty="0" smtClean="0">
                <a:solidFill>
                  <a:schemeClr val="accent6">
                    <a:lumMod val="75000"/>
                  </a:schemeClr>
                </a:solidFill>
              </a:rPr>
              <a:t>Comparative Study of Primary Scales of Measurement: </a:t>
            </a:r>
            <a:r>
              <a:rPr lang="en-US" dirty="0" smtClean="0"/>
              <a:t/>
            </a:r>
            <a:br>
              <a:rPr lang="en-US" dirty="0" smtClean="0"/>
            </a:br>
            <a:endParaRPr lang="en-US" dirty="0"/>
          </a:p>
        </p:txBody>
      </p:sp>
      <p:graphicFrame>
        <p:nvGraphicFramePr>
          <p:cNvPr id="6" name="Content Placeholder 5"/>
          <p:cNvGraphicFramePr>
            <a:graphicFrameLocks noGrp="1"/>
          </p:cNvGraphicFramePr>
          <p:nvPr>
            <p:ph idx="1"/>
          </p:nvPr>
        </p:nvGraphicFramePr>
        <p:xfrm>
          <a:off x="152400" y="1819371"/>
          <a:ext cx="8686800" cy="3895629"/>
        </p:xfrm>
        <a:graphic>
          <a:graphicData uri="http://schemas.openxmlformats.org/drawingml/2006/table">
            <a:tbl>
              <a:tblPr firstRow="1" bandRow="1">
                <a:tableStyleId>{7DF18680-E054-41AD-8BC1-D1AEF772440D}</a:tableStyleId>
              </a:tblPr>
              <a:tblGrid>
                <a:gridCol w="1905000"/>
                <a:gridCol w="3733800"/>
                <a:gridCol w="3048000"/>
              </a:tblGrid>
              <a:tr h="384062">
                <a:tc>
                  <a:txBody>
                    <a:bodyPr/>
                    <a:lstStyle/>
                    <a:p>
                      <a:pPr marL="0" marR="0" algn="ctr">
                        <a:lnSpc>
                          <a:spcPct val="115000"/>
                        </a:lnSpc>
                        <a:spcBef>
                          <a:spcPts val="0"/>
                        </a:spcBef>
                        <a:spcAft>
                          <a:spcPts val="0"/>
                        </a:spcAft>
                        <a:tabLst>
                          <a:tab pos="2400300" algn="l"/>
                        </a:tabLst>
                      </a:pPr>
                      <a:r>
                        <a:rPr lang="en-US" sz="2000" dirty="0"/>
                        <a:t>Scale </a:t>
                      </a:r>
                      <a:r>
                        <a:rPr lang="en-US" sz="2000" dirty="0" smtClean="0"/>
                        <a:t>of  </a:t>
                      </a:r>
                    </a:p>
                    <a:p>
                      <a:pPr marL="0" marR="0" algn="ctr">
                        <a:lnSpc>
                          <a:spcPct val="115000"/>
                        </a:lnSpc>
                        <a:spcBef>
                          <a:spcPts val="0"/>
                        </a:spcBef>
                        <a:spcAft>
                          <a:spcPts val="0"/>
                        </a:spcAft>
                        <a:tabLst>
                          <a:tab pos="2400300" algn="l"/>
                        </a:tabLst>
                      </a:pPr>
                      <a:r>
                        <a:rPr lang="en-US" sz="2000" dirty="0" smtClean="0"/>
                        <a:t>Measurement</a:t>
                      </a:r>
                      <a:endParaRPr lang="en-US" sz="1800" b="1" dirty="0">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tabLst>
                          <a:tab pos="2400300" algn="l"/>
                        </a:tabLst>
                      </a:pPr>
                      <a:r>
                        <a:rPr lang="en-US" sz="2000" dirty="0"/>
                        <a:t>Mathematical Operations</a:t>
                      </a:r>
                      <a:endParaRPr lang="en-US" sz="1800" b="1" dirty="0">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tabLst>
                          <a:tab pos="2400300" algn="l"/>
                        </a:tabLst>
                      </a:pPr>
                      <a:r>
                        <a:rPr lang="en-US" sz="2000" dirty="0"/>
                        <a:t>Examples</a:t>
                      </a:r>
                      <a:endParaRPr lang="en-US" sz="1800" b="1" dirty="0">
                        <a:latin typeface="Calibri"/>
                        <a:ea typeface="Calibri"/>
                        <a:cs typeface="Times New Roman"/>
                      </a:endParaRPr>
                    </a:p>
                  </a:txBody>
                  <a:tcPr marL="68580" marR="68580" marT="0" marB="0"/>
                </a:tc>
              </a:tr>
              <a:tr h="703017">
                <a:tc>
                  <a:txBody>
                    <a:bodyPr/>
                    <a:lstStyle/>
                    <a:p>
                      <a:pPr marL="0" marR="0" algn="ctr" defTabSz="914400" rtl="0" eaLnBrk="1" latinLnBrk="0" hangingPunct="1">
                        <a:lnSpc>
                          <a:spcPct val="115000"/>
                        </a:lnSpc>
                        <a:spcBef>
                          <a:spcPts val="0"/>
                        </a:spcBef>
                        <a:spcAft>
                          <a:spcPts val="0"/>
                        </a:spcAft>
                        <a:tabLst>
                          <a:tab pos="2400300" algn="l"/>
                        </a:tabLst>
                      </a:pPr>
                      <a:r>
                        <a:rPr lang="en-US" sz="2400" kern="1200" dirty="0" smtClean="0"/>
                        <a:t>Nominal</a:t>
                      </a:r>
                      <a:r>
                        <a:rPr lang="en-US" sz="2400" kern="1200" dirty="0"/>
                        <a:t>	</a:t>
                      </a:r>
                      <a:endParaRPr lang="en-US" sz="2400" kern="1200" dirty="0">
                        <a:solidFill>
                          <a:schemeClr val="dk1"/>
                        </a:solidFill>
                        <a:latin typeface="Times New Roman"/>
                        <a:ea typeface="Calibri"/>
                        <a:cs typeface="Times New Roman"/>
                      </a:endParaRPr>
                    </a:p>
                  </a:txBody>
                  <a:tcPr marL="68580" marR="68580" marT="0" marB="0"/>
                </a:tc>
                <a:tc>
                  <a:txBody>
                    <a:bodyPr/>
                    <a:lstStyle/>
                    <a:p>
                      <a:pPr marL="0" marR="0" algn="l">
                        <a:lnSpc>
                          <a:spcPct val="115000"/>
                        </a:lnSpc>
                        <a:spcBef>
                          <a:spcPts val="0"/>
                        </a:spcBef>
                        <a:spcAft>
                          <a:spcPts val="0"/>
                        </a:spcAft>
                        <a:tabLst>
                          <a:tab pos="2400300" algn="l"/>
                        </a:tabLst>
                      </a:pPr>
                      <a:r>
                        <a:rPr lang="en-US" sz="2000" kern="1200" dirty="0"/>
                        <a:t>Counting</a:t>
                      </a:r>
                      <a:endParaRPr lang="en-US" sz="2000" kern="1200" dirty="0">
                        <a:solidFill>
                          <a:schemeClr val="dk1"/>
                        </a:solidFill>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tabLst>
                          <a:tab pos="2400300" algn="l"/>
                        </a:tabLst>
                      </a:pPr>
                      <a:r>
                        <a:rPr lang="en-US" sz="2000" dirty="0"/>
                        <a:t>Gender, Religion, Color</a:t>
                      </a:r>
                      <a:endParaRPr lang="en-US" sz="1800" dirty="0">
                        <a:latin typeface="Calibri"/>
                        <a:ea typeface="Calibri"/>
                        <a:cs typeface="Times New Roman"/>
                      </a:endParaRPr>
                    </a:p>
                  </a:txBody>
                  <a:tcPr marL="68580" marR="68580" marT="0" marB="0"/>
                </a:tc>
              </a:tr>
              <a:tr h="523168">
                <a:tc>
                  <a:txBody>
                    <a:bodyPr/>
                    <a:lstStyle/>
                    <a:p>
                      <a:pPr marL="0" marR="0" algn="l">
                        <a:lnSpc>
                          <a:spcPct val="115000"/>
                        </a:lnSpc>
                        <a:spcBef>
                          <a:spcPts val="0"/>
                        </a:spcBef>
                        <a:spcAft>
                          <a:spcPts val="0"/>
                        </a:spcAft>
                        <a:tabLst>
                          <a:tab pos="2400300" algn="l"/>
                        </a:tabLst>
                      </a:pPr>
                      <a:r>
                        <a:rPr lang="en-US" sz="2400" kern="1200" dirty="0"/>
                        <a:t>Ordinal </a:t>
                      </a:r>
                      <a:endParaRPr lang="en-US" sz="2400" kern="1200" dirty="0">
                        <a:solidFill>
                          <a:schemeClr val="dk1"/>
                        </a:solidFill>
                        <a:latin typeface="Times New Roman"/>
                        <a:ea typeface="Calibri"/>
                        <a:cs typeface="Times New Roman"/>
                      </a:endParaRPr>
                    </a:p>
                  </a:txBody>
                  <a:tcPr marL="68580" marR="68580" marT="0" marB="0"/>
                </a:tc>
                <a:tc>
                  <a:txBody>
                    <a:bodyPr/>
                    <a:lstStyle/>
                    <a:p>
                      <a:pPr marL="0" marR="0" algn="l">
                        <a:lnSpc>
                          <a:spcPct val="115000"/>
                        </a:lnSpc>
                        <a:spcBef>
                          <a:spcPts val="0"/>
                        </a:spcBef>
                        <a:spcAft>
                          <a:spcPts val="0"/>
                        </a:spcAft>
                        <a:tabLst>
                          <a:tab pos="2400300" algn="l"/>
                        </a:tabLst>
                      </a:pPr>
                      <a:r>
                        <a:rPr lang="en-US" sz="2000" kern="1200" dirty="0"/>
                        <a:t>Counting &amp; Ranking</a:t>
                      </a:r>
                      <a:endParaRPr lang="en-US" sz="2000" kern="1200" dirty="0">
                        <a:solidFill>
                          <a:schemeClr val="dk1"/>
                        </a:solidFill>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tabLst>
                          <a:tab pos="2400300" algn="l"/>
                        </a:tabLst>
                      </a:pPr>
                      <a:r>
                        <a:rPr lang="en-US" sz="2000" dirty="0"/>
                        <a:t>Economic Status, Farm size</a:t>
                      </a:r>
                      <a:endParaRPr lang="en-US" sz="1800" dirty="0">
                        <a:latin typeface="Calibri"/>
                        <a:ea typeface="Calibri"/>
                        <a:cs typeface="Times New Roman"/>
                      </a:endParaRPr>
                    </a:p>
                  </a:txBody>
                  <a:tcPr marL="68580" marR="68580" marT="0" marB="0"/>
                </a:tc>
              </a:tr>
              <a:tr h="864726">
                <a:tc>
                  <a:txBody>
                    <a:bodyPr/>
                    <a:lstStyle/>
                    <a:p>
                      <a:pPr marL="0" marR="0" algn="l">
                        <a:lnSpc>
                          <a:spcPct val="115000"/>
                        </a:lnSpc>
                        <a:spcBef>
                          <a:spcPts val="0"/>
                        </a:spcBef>
                        <a:spcAft>
                          <a:spcPts val="0"/>
                        </a:spcAft>
                        <a:tabLst>
                          <a:tab pos="2400300" algn="l"/>
                        </a:tabLst>
                      </a:pPr>
                      <a:r>
                        <a:rPr lang="en-US" sz="2400" kern="1200" dirty="0"/>
                        <a:t>Interval</a:t>
                      </a:r>
                      <a:endParaRPr lang="en-US" sz="2400" kern="1200" dirty="0">
                        <a:solidFill>
                          <a:schemeClr val="dk1"/>
                        </a:solidFill>
                        <a:latin typeface="Times New Roman"/>
                        <a:ea typeface="Calibri"/>
                        <a:cs typeface="Times New Roman"/>
                      </a:endParaRPr>
                    </a:p>
                  </a:txBody>
                  <a:tcPr marL="68580" marR="68580" marT="0" marB="0"/>
                </a:tc>
                <a:tc>
                  <a:txBody>
                    <a:bodyPr/>
                    <a:lstStyle/>
                    <a:p>
                      <a:pPr marL="0" marR="0" algn="l">
                        <a:lnSpc>
                          <a:spcPct val="115000"/>
                        </a:lnSpc>
                        <a:spcBef>
                          <a:spcPts val="0"/>
                        </a:spcBef>
                        <a:spcAft>
                          <a:spcPts val="0"/>
                        </a:spcAft>
                        <a:tabLst>
                          <a:tab pos="2400300" algn="l"/>
                        </a:tabLst>
                      </a:pPr>
                      <a:r>
                        <a:rPr lang="en-US" sz="2000" kern="1200" dirty="0"/>
                        <a:t>Counting, Ranking, Addition &amp; Subtraction</a:t>
                      </a:r>
                      <a:endParaRPr lang="en-US" sz="2000" kern="1200" dirty="0">
                        <a:solidFill>
                          <a:schemeClr val="dk1"/>
                        </a:solidFill>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tabLst>
                          <a:tab pos="2400300" algn="l"/>
                        </a:tabLst>
                      </a:pPr>
                      <a:r>
                        <a:rPr lang="en-US" sz="2000" dirty="0"/>
                        <a:t>IQ test scores, Temperature, SAT scores, Calendar Time</a:t>
                      </a:r>
                      <a:endParaRPr lang="en-US" sz="1800" dirty="0">
                        <a:latin typeface="Calibri"/>
                        <a:ea typeface="Calibri"/>
                        <a:cs typeface="Times New Roman"/>
                      </a:endParaRPr>
                    </a:p>
                  </a:txBody>
                  <a:tcPr marL="68580" marR="68580" marT="0" marB="0"/>
                </a:tc>
              </a:tr>
              <a:tr h="1103678">
                <a:tc>
                  <a:txBody>
                    <a:bodyPr/>
                    <a:lstStyle/>
                    <a:p>
                      <a:pPr marL="0" marR="0" algn="l">
                        <a:lnSpc>
                          <a:spcPct val="115000"/>
                        </a:lnSpc>
                        <a:spcBef>
                          <a:spcPts val="0"/>
                        </a:spcBef>
                        <a:spcAft>
                          <a:spcPts val="0"/>
                        </a:spcAft>
                        <a:tabLst>
                          <a:tab pos="2400300" algn="l"/>
                        </a:tabLst>
                      </a:pPr>
                      <a:r>
                        <a:rPr lang="en-US" sz="2400" kern="1200" dirty="0"/>
                        <a:t>Ratio</a:t>
                      </a:r>
                      <a:endParaRPr lang="en-US" sz="2400" kern="1200" dirty="0">
                        <a:solidFill>
                          <a:schemeClr val="dk1"/>
                        </a:solidFill>
                        <a:latin typeface="Times New Roman"/>
                        <a:ea typeface="Calibri"/>
                        <a:cs typeface="Times New Roman"/>
                      </a:endParaRPr>
                    </a:p>
                  </a:txBody>
                  <a:tcPr marL="68580" marR="68580" marT="0" marB="0"/>
                </a:tc>
                <a:tc>
                  <a:txBody>
                    <a:bodyPr/>
                    <a:lstStyle/>
                    <a:p>
                      <a:pPr marL="0" marR="0" algn="l">
                        <a:lnSpc>
                          <a:spcPct val="115000"/>
                        </a:lnSpc>
                        <a:spcBef>
                          <a:spcPts val="0"/>
                        </a:spcBef>
                        <a:spcAft>
                          <a:spcPts val="0"/>
                        </a:spcAft>
                        <a:tabLst>
                          <a:tab pos="2400300" algn="l"/>
                        </a:tabLst>
                      </a:pPr>
                      <a:r>
                        <a:rPr lang="en-US" sz="2000" kern="1200" dirty="0"/>
                        <a:t>Counting, Ranking, Addition, Subtraction, Multiplication &amp; Division</a:t>
                      </a:r>
                      <a:endParaRPr lang="en-US" sz="2000" kern="1200" dirty="0">
                        <a:solidFill>
                          <a:schemeClr val="dk1"/>
                        </a:solidFill>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tabLst>
                          <a:tab pos="2400300" algn="l"/>
                        </a:tabLst>
                      </a:pPr>
                      <a:r>
                        <a:rPr lang="en-US" sz="2000" dirty="0"/>
                        <a:t>Age, Investments, Income, Expenditure, Family Size</a:t>
                      </a:r>
                      <a:endParaRPr lang="en-US" sz="1800" dirty="0">
                        <a:latin typeface="Calibri"/>
                        <a:ea typeface="Calibri"/>
                        <a:cs typeface="Times New Roman"/>
                      </a:endParaRPr>
                    </a:p>
                  </a:txBody>
                  <a:tcPr marL="68580" marR="68580" marT="0" marB="0"/>
                </a:tc>
              </a:tr>
            </a:tbl>
          </a:graphicData>
        </a:graphic>
      </p:graphicFrame>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38200"/>
            <a:ext cx="9296400" cy="6019800"/>
          </a:xfrm>
        </p:spPr>
        <p:txBody>
          <a:bodyPr>
            <a:normAutofit/>
          </a:bodyPr>
          <a:lstStyle/>
          <a:p>
            <a:pPr>
              <a:buNone/>
            </a:pPr>
            <a:r>
              <a:rPr lang="en-US" sz="11200" dirty="0" smtClean="0">
                <a:solidFill>
                  <a:srgbClr val="0070C0"/>
                </a:solidFill>
              </a:rPr>
              <a:t> </a:t>
            </a:r>
            <a:endParaRPr lang="en-US" sz="7500" dirty="0" smtClean="0">
              <a:solidFill>
                <a:srgbClr val="0070C0"/>
              </a:solidFill>
            </a:endParaRPr>
          </a:p>
          <a:p>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
        <p:nvSpPr>
          <p:cNvPr id="7" name="Rectangle 6"/>
          <p:cNvSpPr/>
          <p:nvPr/>
        </p:nvSpPr>
        <p:spPr>
          <a:xfrm>
            <a:off x="76200" y="178110"/>
            <a:ext cx="8382000" cy="6479210"/>
          </a:xfrm>
          <a:prstGeom prst="rect">
            <a:avLst/>
          </a:prstGeom>
        </p:spPr>
        <p:txBody>
          <a:bodyPr wrap="square">
            <a:spAutoFit/>
          </a:bodyPr>
          <a:lstStyle/>
          <a:p>
            <a:pPr algn="just">
              <a:lnSpc>
                <a:spcPct val="115000"/>
              </a:lnSpc>
              <a:spcAft>
                <a:spcPts val="1000"/>
              </a:spcAft>
            </a:pPr>
            <a:endParaRPr lang="en-US" b="1" dirty="0" smtClean="0">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15000"/>
              </a:lnSpc>
              <a:spcAft>
                <a:spcPts val="1000"/>
              </a:spcAft>
            </a:pPr>
            <a:r>
              <a:rPr lang="en-US" sz="2000" b="1" dirty="0" smtClean="0">
                <a:latin typeface="Times New Roman" panose="02020603050405020304" pitchFamily="18" charset="0"/>
                <a:ea typeface="Arial Unicode MS" panose="020B0604020202020204" pitchFamily="34" charset="-128"/>
                <a:cs typeface="Times New Roman" panose="02020603050405020304" pitchFamily="18" charset="0"/>
              </a:rPr>
              <a:t>Classification</a:t>
            </a:r>
            <a:r>
              <a:rPr lang="en-US" sz="20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Classification is the first statistical technique to condense the raw data. It is the process of arranging data in different groups or classes according to their affinities.</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Arial Unicode MS" panose="020B0604020202020204" pitchFamily="34" charset="-128"/>
                <a:cs typeface="Times New Roman" panose="02020603050405020304" pitchFamily="18" charset="0"/>
              </a:rPr>
              <a:t>Tabulation:</a:t>
            </a: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  Tabulation is a logical and systematic arrangement of statistical data in </a:t>
            </a:r>
            <a:r>
              <a:rPr lang="en-US" sz="2000" dirty="0" err="1">
                <a:latin typeface="Times New Roman" panose="02020603050405020304" pitchFamily="18" charset="0"/>
                <a:ea typeface="Arial Unicode MS" panose="020B0604020202020204" pitchFamily="34" charset="-128"/>
                <a:cs typeface="Times New Roman" panose="02020603050405020304" pitchFamily="18" charset="0"/>
              </a:rPr>
              <a:t>raws</a:t>
            </a: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 and columns.</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Arial Unicode MS" panose="020B0604020202020204" pitchFamily="34" charset="-128"/>
                <a:cs typeface="Times New Roman" panose="02020603050405020304" pitchFamily="18" charset="0"/>
              </a:rPr>
              <a:t>Frequency:</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The number of times that a given value occurs into each group / class is known as frequency.</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For example, if four students have a score of 80 in mathematics, and then the score of 80 is said to have a frequency of 4.  The frequency of a data value is often represented by </a:t>
            </a:r>
            <a:r>
              <a:rPr lang="en-US" sz="2000" i="1" dirty="0">
                <a:latin typeface="Times New Roman" panose="02020603050405020304" pitchFamily="18" charset="0"/>
                <a:ea typeface="Times New Roman" panose="02020603050405020304" pitchFamily="18" charset="0"/>
                <a:cs typeface="Times New Roman" panose="02020603050405020304" pitchFamily="18" charset="0"/>
              </a:rPr>
              <a:t>f</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Frequency distribution </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cs typeface="Times New Roman" panose="02020603050405020304" pitchFamily="18" charset="0"/>
              </a:rPr>
              <a:t>Arrangement of observations according to frequencies is called frequency distribution. </a:t>
            </a:r>
            <a:r>
              <a:rPr lang="en-US" dirty="0">
                <a:latin typeface="Times New Roman" panose="02020603050405020304" pitchFamily="18" charset="0"/>
                <a:ea typeface="Times New Roman" panose="02020603050405020304" pitchFamily="18" charset="0"/>
                <a:cs typeface="Times New Roman" panose="02020603050405020304" pitchFamily="18" charset="0"/>
              </a:rPr>
              <a:t/>
            </a:r>
            <a:br>
              <a:rPr lang="en-US" dirty="0">
                <a:latin typeface="Times New Roman" panose="02020603050405020304" pitchFamily="18" charset="0"/>
                <a:ea typeface="Times New Roman" panose="02020603050405020304" pitchFamily="18" charset="0"/>
                <a:cs typeface="Times New Roman" panose="02020603050405020304" pitchFamily="18" charset="0"/>
              </a:rPr>
            </a:br>
            <a:endParaRPr lang="en-US" sz="200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9142246" cy="7386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1743075" algn="l"/>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SAMPLE QUESTIONNAIRE:</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743075" algn="l"/>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Questionnaire on “Socio-Economic background and academic performance Of  IIUC students”.  </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228600" y="914403"/>
          <a:ext cx="8686800" cy="5638798"/>
        </p:xfrm>
        <a:graphic>
          <a:graphicData uri="http://schemas.openxmlformats.org/drawingml/2006/table">
            <a:tbl>
              <a:tblPr/>
              <a:tblGrid>
                <a:gridCol w="4498026"/>
                <a:gridCol w="4188774"/>
              </a:tblGrid>
              <a:tr h="285013">
                <a:tc>
                  <a:txBody>
                    <a:bodyPr/>
                    <a:lstStyle/>
                    <a:p>
                      <a:pPr marL="0" marR="0">
                        <a:lnSpc>
                          <a:spcPct val="115000"/>
                        </a:lnSpc>
                        <a:spcBef>
                          <a:spcPts val="0"/>
                        </a:spcBef>
                        <a:spcAft>
                          <a:spcPts val="0"/>
                        </a:spcAft>
                        <a:tabLst>
                          <a:tab pos="1743075" algn="l"/>
                        </a:tabLst>
                      </a:pPr>
                      <a:r>
                        <a:rPr lang="en-US" sz="1600" b="1" dirty="0">
                          <a:latin typeface="Times New Roman" pitchFamily="18" charset="0"/>
                          <a:ea typeface="Times New Roman"/>
                          <a:cs typeface="Times New Roman" pitchFamily="18" charset="0"/>
                        </a:rPr>
                        <a:t>1.Students Name:</a:t>
                      </a:r>
                      <a:endParaRPr lang="en-US" sz="1600" dirty="0">
                        <a:latin typeface="Times New Roman" pitchFamily="18" charset="0"/>
                        <a:ea typeface="Times New Roman"/>
                        <a:cs typeface="Times New Roman" pitchFamily="18" charset="0"/>
                      </a:endParaRP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b="1">
                          <a:latin typeface="Times New Roman" pitchFamily="18" charset="0"/>
                          <a:ea typeface="Times New Roman"/>
                          <a:cs typeface="Times New Roman" pitchFamily="18" charset="0"/>
                        </a:rPr>
                        <a:t>ID:</a:t>
                      </a:r>
                      <a:endParaRPr lang="en-US" sz="1600">
                        <a:latin typeface="Times New Roman" pitchFamily="18" charset="0"/>
                        <a:ea typeface="Times New Roman"/>
                        <a:cs typeface="Times New Roman" pitchFamily="18" charset="0"/>
                      </a:endParaRP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013">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2. Semester</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3. Department:</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013">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4. Mobile number (if possible):</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5.Gender: (a) male, (b) Female</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013">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6. Age:…………………..</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7. Religion: (a) Islam (b) Hindu (C)Others</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013">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8. Home District:</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9. Number of brothers and sisters:…………</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4717">
                <a:tc>
                  <a:txBody>
                    <a:bodyPr/>
                    <a:lstStyle/>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10. What is your serial number as a son/daughter</a:t>
                      </a:r>
                    </a:p>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of your parents? (a) First, (b) second, (c) third,(d) fourth (e) ___________</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11.Areas of your School at SSC or equivalent</a:t>
                      </a:r>
                    </a:p>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level : (a) city, (b) small town (c) village</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4865">
                <a:tc>
                  <a:txBody>
                    <a:bodyPr/>
                    <a:lstStyle/>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12. Areas of your School at HSC or equivalent</a:t>
                      </a:r>
                    </a:p>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level : (a) city, (b) small town (c) village</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13. Did you pass (a) SSC/HSC, (b) O-level/A-level,(c) Madrasa qualifications (d) others</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4717">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14. SSC and HSC (or equivalent) GPA: SSC:_____ and HSC………..</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15. Father’s Education: (a) No education</a:t>
                      </a:r>
                    </a:p>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(b) Primary, (c) Secondary, (d) Higher Secondary (e) University. </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4717">
                <a:tc>
                  <a:txBody>
                    <a:bodyPr/>
                    <a:lstStyle/>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16. Mother’s Education: (a) No education (b) Primary, (c) Secondary, (d) Higher Secondary</a:t>
                      </a:r>
                    </a:p>
                    <a:p>
                      <a:pPr marL="0" marR="0">
                        <a:lnSpc>
                          <a:spcPct val="115000"/>
                        </a:lnSpc>
                        <a:spcBef>
                          <a:spcPts val="0"/>
                        </a:spcBef>
                        <a:spcAft>
                          <a:spcPts val="0"/>
                        </a:spcAft>
                      </a:pPr>
                      <a:r>
                        <a:rPr lang="en-US" sz="1600">
                          <a:latin typeface="Times New Roman" pitchFamily="18" charset="0"/>
                          <a:ea typeface="Times New Roman"/>
                          <a:cs typeface="Times New Roman" pitchFamily="18" charset="0"/>
                        </a:rPr>
                        <a:t> (e) university. </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dirty="0">
                          <a:latin typeface="Times New Roman" pitchFamily="18" charset="0"/>
                          <a:ea typeface="Times New Roman"/>
                          <a:cs typeface="Times New Roman" pitchFamily="18" charset="0"/>
                        </a:rPr>
                        <a:t>17. What is ( or was ) your father’s occupation:</a:t>
                      </a:r>
                    </a:p>
                    <a:p>
                      <a:pPr marL="0" marR="0">
                        <a:lnSpc>
                          <a:spcPct val="115000"/>
                        </a:lnSpc>
                        <a:spcBef>
                          <a:spcPts val="0"/>
                        </a:spcBef>
                        <a:spcAft>
                          <a:spcPts val="0"/>
                        </a:spcAft>
                        <a:tabLst>
                          <a:tab pos="1743075" algn="l"/>
                        </a:tabLst>
                      </a:pPr>
                      <a:r>
                        <a:rPr lang="en-US" sz="1600" dirty="0">
                          <a:latin typeface="Times New Roman" pitchFamily="18" charset="0"/>
                          <a:ea typeface="Times New Roman"/>
                          <a:cs typeface="Times New Roman" pitchFamily="18" charset="0"/>
                        </a:rPr>
                        <a:t>(a) Agriculture (b) Business (c) Service (d) teacher and (e) Others. </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4717">
                <a:tc>
                  <a:txBody>
                    <a:bodyPr/>
                    <a:lstStyle/>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18. What is ( or was ) your mother’s occupation:</a:t>
                      </a:r>
                    </a:p>
                    <a:p>
                      <a:pPr marL="0" marR="0">
                        <a:lnSpc>
                          <a:spcPct val="115000"/>
                        </a:lnSpc>
                        <a:spcBef>
                          <a:spcPts val="0"/>
                        </a:spcBef>
                        <a:spcAft>
                          <a:spcPts val="0"/>
                        </a:spcAft>
                        <a:tabLst>
                          <a:tab pos="1743075" algn="l"/>
                        </a:tabLst>
                      </a:pPr>
                      <a:r>
                        <a:rPr lang="en-US" sz="1600">
                          <a:latin typeface="Times New Roman" pitchFamily="18" charset="0"/>
                          <a:ea typeface="Times New Roman"/>
                          <a:cs typeface="Times New Roman" pitchFamily="18" charset="0"/>
                        </a:rPr>
                        <a:t>(a) Housewife (b) Business (c) Service (d) teacher and (e) Others.</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dirty="0">
                          <a:latin typeface="Times New Roman" pitchFamily="18" charset="0"/>
                          <a:ea typeface="Times New Roman"/>
                          <a:cs typeface="Times New Roman" pitchFamily="18" charset="0"/>
                        </a:rPr>
                        <a:t>19. Your father and mother monthly income:………………..</a:t>
                      </a:r>
                    </a:p>
                  </a:txBody>
                  <a:tcPr marL="38077" marR="3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609600"/>
          <a:ext cx="8458200" cy="5410199"/>
        </p:xfrm>
        <a:graphic>
          <a:graphicData uri="http://schemas.openxmlformats.org/drawingml/2006/table">
            <a:tbl>
              <a:tblPr/>
              <a:tblGrid>
                <a:gridCol w="4379657"/>
                <a:gridCol w="4078543"/>
              </a:tblGrid>
              <a:tr h="1213745">
                <a:tc>
                  <a:txBody>
                    <a:bodyPr/>
                    <a:lstStyle/>
                    <a:p>
                      <a:pPr marL="0" marR="0">
                        <a:lnSpc>
                          <a:spcPct val="115000"/>
                        </a:lnSpc>
                        <a:spcBef>
                          <a:spcPts val="0"/>
                        </a:spcBef>
                        <a:spcAft>
                          <a:spcPts val="0"/>
                        </a:spcAft>
                      </a:pPr>
                      <a:r>
                        <a:rPr lang="en-US" sz="1600" dirty="0">
                          <a:latin typeface="Times New Roman"/>
                          <a:ea typeface="Times New Roman"/>
                          <a:cs typeface="Times New Roman"/>
                        </a:rPr>
                        <a:t>20. Economic status of your family:(a) Poor, (b) lower middle class (c) middle class, (d) higher middle class, (e)rich</a:t>
                      </a:r>
                      <a:endParaRPr lang="en-US" sz="16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21.Behind Choosing IIUC: (a) Islamic (b) Tuition (c) Safety and distance (d) Faculty (e)Good private university(f) Scholarship (g) others.</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4032">
                <a:tc>
                  <a:txBody>
                    <a:bodyPr/>
                    <a:lstStyle/>
                    <a:p>
                      <a:pPr marL="0" marR="0">
                        <a:lnSpc>
                          <a:spcPct val="115000"/>
                        </a:lnSpc>
                        <a:spcBef>
                          <a:spcPts val="0"/>
                        </a:spcBef>
                        <a:spcAft>
                          <a:spcPts val="0"/>
                        </a:spcAft>
                      </a:pPr>
                      <a:r>
                        <a:rPr lang="en-US" sz="1600">
                          <a:latin typeface="Times New Roman"/>
                          <a:ea typeface="Times New Roman"/>
                          <a:cs typeface="Times New Roman"/>
                        </a:rPr>
                        <a:t>22. How you got information about IIUC:</a:t>
                      </a:r>
                      <a:endParaRPr lang="en-US" sz="1600">
                        <a:latin typeface="Arial"/>
                        <a:ea typeface="Times New Roman"/>
                        <a:cs typeface="Times New Roman"/>
                      </a:endParaRPr>
                    </a:p>
                    <a:p>
                      <a:pPr marL="0" marR="0">
                        <a:lnSpc>
                          <a:spcPct val="115000"/>
                        </a:lnSpc>
                        <a:spcBef>
                          <a:spcPts val="0"/>
                        </a:spcBef>
                        <a:spcAft>
                          <a:spcPts val="0"/>
                        </a:spcAft>
                      </a:pPr>
                      <a:r>
                        <a:rPr lang="en-US" sz="1600">
                          <a:latin typeface="Times New Roman"/>
                          <a:ea typeface="Times New Roman"/>
                          <a:cs typeface="Times New Roman"/>
                        </a:rPr>
                        <a:t>(a) Advertisement, (b) Faculty (c)</a:t>
                      </a:r>
                      <a:endParaRPr lang="en-US" sz="1600">
                        <a:latin typeface="Arial"/>
                        <a:ea typeface="Times New Roman"/>
                        <a:cs typeface="Times New Roman"/>
                      </a:endParaRPr>
                    </a:p>
                    <a:p>
                      <a:pPr marL="0" marR="0">
                        <a:lnSpc>
                          <a:spcPct val="115000"/>
                        </a:lnSpc>
                        <a:spcBef>
                          <a:spcPts val="0"/>
                        </a:spcBef>
                        <a:spcAft>
                          <a:spcPts val="0"/>
                        </a:spcAft>
                        <a:tabLst>
                          <a:tab pos="1743075" algn="l"/>
                        </a:tabLst>
                      </a:pPr>
                      <a:r>
                        <a:rPr lang="en-US" sz="1600">
                          <a:latin typeface="Times New Roman"/>
                          <a:ea typeface="Times New Roman"/>
                          <a:cs typeface="Times New Roman"/>
                        </a:rPr>
                        <a:t>friends/relatives, (d) internet</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23.While attending university, I live: (a) In a hall (b) At home/ Family (c) Mess (d) Relative/friends (e) others</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5436">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24. Approximately, what was your grade average in your final year of IIUC:…………..out of 4.00.</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25. Do you discuss your grades with your guardian? (a) Yes (b)No</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4032">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26.Compared to my friends at university, I am, on an academic basis, performing:(a) Better (b) Same (c)Worse  </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 27. How often did you miss classes: (a) Always (b) Sometimes (C) Never (d) Once every week?  </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4318">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 28. Usually I study: (a) Library (b) Class (c) my room (d) If other please Specify:………….    </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 29. Generally, I study…………….hours daily.  </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4318">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30.Are you satisfied in IIUC  academic system: </a:t>
                      </a:r>
                      <a:endParaRPr lang="en-US" sz="1600">
                        <a:latin typeface="Arial"/>
                        <a:ea typeface="Times New Roman"/>
                        <a:cs typeface="Times New Roman"/>
                      </a:endParaRPr>
                    </a:p>
                    <a:p>
                      <a:pPr marL="0" marR="0">
                        <a:lnSpc>
                          <a:spcPct val="115000"/>
                        </a:lnSpc>
                        <a:spcBef>
                          <a:spcPts val="0"/>
                        </a:spcBef>
                        <a:spcAft>
                          <a:spcPts val="0"/>
                        </a:spcAft>
                        <a:tabLst>
                          <a:tab pos="1743075" algn="l"/>
                        </a:tabLst>
                      </a:pPr>
                      <a:r>
                        <a:rPr lang="en-US" sz="1600">
                          <a:latin typeface="Times New Roman"/>
                          <a:ea typeface="Times New Roman"/>
                          <a:cs typeface="Times New Roman"/>
                        </a:rPr>
                        <a:t>(a) yes         (b) No.</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r>
                        <a:rPr lang="en-US" sz="1600">
                          <a:latin typeface="Times New Roman"/>
                          <a:ea typeface="Times New Roman"/>
                          <a:cs typeface="Times New Roman"/>
                        </a:rPr>
                        <a:t>31. Do you seem that tuition fee is higher in IIUC? (a) yes                (b) No.</a:t>
                      </a:r>
                      <a:endParaRPr lang="en-US" sz="16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4318">
                <a:tc>
                  <a:txBody>
                    <a:bodyPr/>
                    <a:lstStyle/>
                    <a:p>
                      <a:pPr marL="0" marR="0">
                        <a:lnSpc>
                          <a:spcPct val="115000"/>
                        </a:lnSpc>
                        <a:spcBef>
                          <a:spcPts val="0"/>
                        </a:spcBef>
                        <a:spcAft>
                          <a:spcPts val="0"/>
                        </a:spcAft>
                        <a:tabLst>
                          <a:tab pos="1743075" algn="l"/>
                        </a:tabLst>
                      </a:pPr>
                      <a:r>
                        <a:rPr lang="en-US" sz="1600" dirty="0">
                          <a:latin typeface="Times New Roman"/>
                          <a:ea typeface="Times New Roman"/>
                          <a:cs typeface="Times New Roman"/>
                        </a:rPr>
                        <a:t>32. What's your dream Career? (a) Subject related job(b) Teacher (c) Banker (d) service (e) others.</a:t>
                      </a:r>
                      <a:endParaRPr lang="en-US" sz="16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743075" algn="l"/>
                        </a:tabLst>
                      </a:pPr>
                      <a:endParaRPr lang="en-US" sz="16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3009" name="Rectangle 1"/>
          <p:cNvSpPr>
            <a:spLocks noChangeArrowheads="1"/>
          </p:cNvSpPr>
          <p:nvPr/>
        </p:nvSpPr>
        <p:spPr bwMode="auto">
          <a:xfrm>
            <a:off x="3276600" y="6248400"/>
            <a:ext cx="21336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1743075" algn="l"/>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THANK-YOU</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7500" lnSpcReduction="20000"/>
          </a:bodyPr>
          <a:lstStyle/>
          <a:p>
            <a:pPr marL="0" indent="0">
              <a:buNone/>
            </a:pPr>
            <a:r>
              <a:rPr lang="en-US" b="1" dirty="0"/>
              <a:t>Construction of a frequency distribution:</a:t>
            </a:r>
            <a:endParaRPr lang="en-US" dirty="0"/>
          </a:p>
          <a:p>
            <a:pPr marL="0" indent="0">
              <a:buNone/>
            </a:pPr>
            <a:endParaRPr lang="en-US" dirty="0" smtClean="0"/>
          </a:p>
          <a:p>
            <a:pPr marL="0" indent="0">
              <a:buNone/>
            </a:pPr>
            <a:r>
              <a:rPr lang="en-US" dirty="0" smtClean="0"/>
              <a:t>Following </a:t>
            </a:r>
            <a:r>
              <a:rPr lang="en-US" dirty="0"/>
              <a:t>are the steps for the construction of a frequency distribution:   </a:t>
            </a:r>
          </a:p>
          <a:p>
            <a:pPr marL="0" indent="0">
              <a:buNone/>
            </a:pPr>
            <a:r>
              <a:rPr lang="en-US" b="1" dirty="0"/>
              <a:t>1. Class limits/Range</a:t>
            </a:r>
            <a:r>
              <a:rPr lang="en-US" dirty="0"/>
              <a:t>: The class limits are the lowest and highest values that can be included in the class.</a:t>
            </a:r>
          </a:p>
          <a:p>
            <a:pPr marL="0" indent="0">
              <a:buNone/>
            </a:pPr>
            <a:r>
              <a:rPr lang="en-US" b="1" dirty="0"/>
              <a:t>2. Number of classes:</a:t>
            </a:r>
            <a:r>
              <a:rPr lang="en-US" dirty="0"/>
              <a:t> K = 1+3.322 log</a:t>
            </a:r>
            <a:r>
              <a:rPr lang="en-US" baseline="-25000" dirty="0"/>
              <a:t>10</a:t>
            </a:r>
            <a:r>
              <a:rPr lang="en-US" baseline="30000" dirty="0"/>
              <a:t>N</a:t>
            </a:r>
            <a:r>
              <a:rPr lang="en-US" dirty="0"/>
              <a:t> where N is the number of observations, </a:t>
            </a:r>
          </a:p>
          <a:p>
            <a:pPr marL="0" indent="0">
              <a:buNone/>
            </a:pPr>
            <a:r>
              <a:rPr lang="en-US" b="1" dirty="0"/>
              <a:t>3. Class interval:</a:t>
            </a:r>
            <a:r>
              <a:rPr lang="en-US" dirty="0"/>
              <a:t> C.I = Range /K    where, Range = H.V - L.V.   </a:t>
            </a:r>
          </a:p>
          <a:p>
            <a:pPr marL="0" indent="0">
              <a:buNone/>
            </a:pPr>
            <a:r>
              <a:rPr lang="en-US" b="1" dirty="0"/>
              <a:t>4. Class frequency/Tally: </a:t>
            </a:r>
            <a:r>
              <a:rPr lang="en-US" dirty="0"/>
              <a:t>The number of observations corresponding to the particular class is known as class frequency of that class.</a:t>
            </a:r>
          </a:p>
          <a:p>
            <a:pPr marL="0" indent="0">
              <a:buNone/>
            </a:pPr>
            <a:r>
              <a:rPr lang="en-US" b="1" dirty="0"/>
              <a:t>5. Mid value: (</a:t>
            </a:r>
            <a:r>
              <a:rPr lang="en-US" dirty="0"/>
              <a:t>U.L+L.L) /2</a:t>
            </a:r>
          </a:p>
          <a:p>
            <a:pPr marL="0" indent="0">
              <a:buNone/>
            </a:pPr>
            <a:r>
              <a:rPr lang="en-US" b="1" dirty="0"/>
              <a:t>6. Cumulative frequency: </a:t>
            </a:r>
            <a:r>
              <a:rPr lang="en-US" dirty="0"/>
              <a:t>The number of observation for less then a certain upper limit of the class, if </a:t>
            </a:r>
            <a:r>
              <a:rPr lang="en-US" dirty="0" err="1"/>
              <a:t>cumulation</a:t>
            </a:r>
            <a:r>
              <a:rPr lang="en-US" dirty="0"/>
              <a:t> is done from top of the table.</a:t>
            </a:r>
          </a:p>
          <a:p>
            <a:endParaRPr lang="en-US" dirty="0"/>
          </a:p>
        </p:txBody>
      </p:sp>
    </p:spTree>
    <p:extLst>
      <p:ext uri="{BB962C8B-B14F-4D97-AF65-F5344CB8AC3E}">
        <p14:creationId xmlns:p14="http://schemas.microsoft.com/office/powerpoint/2010/main" val="2281068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marL="0" lvl="0">
              <a:spcBef>
                <a:spcPts val="0"/>
              </a:spcBef>
              <a:buNone/>
            </a:pPr>
            <a:endParaRPr lang="en-US" sz="2800" b="1" dirty="0" smtClean="0">
              <a:solidFill>
                <a:srgbClr val="0070C0"/>
              </a:solidFill>
            </a:endParaRPr>
          </a:p>
          <a:p>
            <a:pPr marL="0" lvl="0">
              <a:spcBef>
                <a:spcPts val="0"/>
              </a:spcBef>
              <a:buNone/>
            </a:pPr>
            <a:endParaRPr lang="en-US" sz="2800" b="1" dirty="0" smtClean="0">
              <a:solidFill>
                <a:srgbClr val="0070C0"/>
              </a:solidFill>
            </a:endParaRPr>
          </a:p>
          <a:p>
            <a:pPr marL="0" lvl="0">
              <a:spcBef>
                <a:spcPts val="0"/>
              </a:spcBef>
              <a:buNone/>
            </a:pPr>
            <a:endParaRPr lang="en-US" sz="2800" b="1" dirty="0" smtClean="0">
              <a:solidFill>
                <a:srgbClr val="0070C0"/>
              </a:solidFill>
            </a:endParaRPr>
          </a:p>
          <a:p>
            <a:endParaRPr lang="en-US" dirty="0"/>
          </a:p>
        </p:txBody>
      </p:sp>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
        <p:nvSpPr>
          <p:cNvPr id="2" name="Rectangle 1"/>
          <p:cNvSpPr/>
          <p:nvPr/>
        </p:nvSpPr>
        <p:spPr>
          <a:xfrm>
            <a:off x="914401" y="801358"/>
            <a:ext cx="7086599" cy="5396862"/>
          </a:xfrm>
          <a:prstGeom prst="rect">
            <a:avLst/>
          </a:prstGeom>
        </p:spPr>
        <p:txBody>
          <a:bodyPr wrap="square">
            <a:spAutoFit/>
          </a:bodyPr>
          <a:lstStyle/>
          <a:p>
            <a:pPr algn="just">
              <a:lnSpc>
                <a:spcPct val="115000"/>
              </a:lnSpc>
              <a:spcAft>
                <a:spcPts val="1000"/>
              </a:spcAft>
            </a:pPr>
            <a:r>
              <a:rPr lang="en-US" b="1" dirty="0">
                <a:latin typeface="Times New Roman" panose="02020603050405020304" pitchFamily="18" charset="0"/>
                <a:ea typeface="Arial Unicode MS" panose="020B0604020202020204" pitchFamily="34" charset="-128"/>
                <a:cs typeface="Times New Roman" panose="02020603050405020304" pitchFamily="18" charset="0"/>
              </a:rPr>
              <a:t>Graphical representation of statistical data</a:t>
            </a:r>
            <a:endParaRPr lang="en-US"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 In addition to presentation of statistical data through tabular form, one can present the same through some visual aids refer to graphs and diagrams.</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Types of Graphs and Diagrams:</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Histogram;</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Bar diagram;</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Frequency polygon</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Pie diagram;</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Scatter diagram;</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Line diagram;</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err="1">
                <a:latin typeface="Times New Roman" panose="02020603050405020304" pitchFamily="18" charset="0"/>
                <a:ea typeface="Arial Unicode MS" panose="020B0604020202020204" pitchFamily="34" charset="-128"/>
                <a:cs typeface="Times New Roman" panose="02020603050405020304" pitchFamily="18" charset="0"/>
              </a:rPr>
              <a:t>Ogive</a:t>
            </a: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Steam and leaf plot. </a:t>
            </a:r>
            <a:endParaRPr lang="en-US" sz="2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tabLst>
                <a:tab pos="571500" algn="l"/>
              </a:tabLst>
            </a:pPr>
            <a:r>
              <a:rPr lang="en-US" sz="2000" dirty="0">
                <a:latin typeface="Times New Roman" panose="02020603050405020304" pitchFamily="18" charset="0"/>
                <a:ea typeface="Arial Unicode MS" panose="020B0604020202020204" pitchFamily="34" charset="-128"/>
                <a:cs typeface="Times New Roman" panose="02020603050405020304" pitchFamily="18" charset="0"/>
              </a:rPr>
              <a:t>Box plot</a:t>
            </a:r>
            <a:endParaRPr lang="en-US" sz="2000"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1"/>
            <a:ext cx="7696200" cy="5304016"/>
          </a:xfrm>
          <a:prstGeom prst="rect">
            <a:avLst/>
          </a:prstGeom>
        </p:spPr>
        <p:txBody>
          <a:bodyPr wrap="square">
            <a:spAutoFit/>
          </a:bodyPr>
          <a:lstStyle/>
          <a:p>
            <a:pPr algn="just">
              <a:lnSpc>
                <a:spcPct val="115000"/>
              </a:lnSpc>
              <a:spcAft>
                <a:spcPts val="1000"/>
              </a:spcAft>
            </a:pPr>
            <a:r>
              <a:rPr lang="en-US" sz="2800" b="1" dirty="0">
                <a:latin typeface="Times New Roman" panose="02020603050405020304" pitchFamily="18" charset="0"/>
                <a:ea typeface="Arial Unicode MS" panose="020B0604020202020204" pitchFamily="34" charset="-128"/>
                <a:cs typeface="Times New Roman" panose="02020603050405020304" pitchFamily="18" charset="0"/>
              </a:rPr>
              <a:t>Assignment-1: </a:t>
            </a: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The following data refer to the ages of 60 employees of a firm.</a:t>
            </a:r>
            <a:endParaRPr lang="en-US" sz="28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33, 41, 21, 25, 36, 38, 35, 36, 35, 37, 42, 30, 35, 37, 36, 38, 30, 54, 40, 48, 15, 28, 51, 42, 25, 41, 30, 27, 42, 36, 28, 26, 37, 54, 44, 31, 36, 40, 36, 22, 30, 31, 19, 48, 16, 42, 32, 21, 22, 40, 43, 42, 39, 38, 37, 33, 49, 47, 46, 48.</a:t>
            </a:r>
            <a:endParaRPr lang="en-US" sz="28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romanLcParenBoth"/>
            </a:pP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Construct a frequency table with suitable class interval.</a:t>
            </a:r>
            <a:endParaRPr lang="en-US" sz="28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Both"/>
            </a:pP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Draw histogram, frequency polygon and </a:t>
            </a:r>
            <a:r>
              <a:rPr lang="en-US" sz="2800" dirty="0" err="1">
                <a:latin typeface="Times New Roman" panose="02020603050405020304" pitchFamily="18" charset="0"/>
                <a:ea typeface="Arial Unicode MS" panose="020B0604020202020204" pitchFamily="34" charset="-128"/>
                <a:cs typeface="Times New Roman" panose="02020603050405020304" pitchFamily="18" charset="0"/>
              </a:rPr>
              <a:t>ogive</a:t>
            </a:r>
            <a:r>
              <a:rPr lang="en-US" sz="2800"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sz="2800"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024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Manju\Desktop\Chart_files\120px-Black_cherry_tree_histogram.png">
            <a:hlinkClick r:id="rId2"/>
          </p:cNvPr>
          <p:cNvPicPr/>
          <p:nvPr/>
        </p:nvPicPr>
        <p:blipFill>
          <a:blip r:embed="rId3" cstate="print"/>
          <a:srcRect/>
          <a:stretch>
            <a:fillRect/>
          </a:stretch>
        </p:blipFill>
        <p:spPr bwMode="auto">
          <a:xfrm>
            <a:off x="830381" y="1621554"/>
            <a:ext cx="3665419" cy="2417045"/>
          </a:xfrm>
          <a:prstGeom prst="rect">
            <a:avLst/>
          </a:prstGeom>
          <a:noFill/>
          <a:ln w="9525">
            <a:noFill/>
            <a:miter lim="800000"/>
            <a:headEnd/>
            <a:tailEnd/>
          </a:ln>
        </p:spPr>
      </p:pic>
      <p:sp>
        <p:nvSpPr>
          <p:cNvPr id="6" name="Rectangle 5"/>
          <p:cNvSpPr/>
          <p:nvPr/>
        </p:nvSpPr>
        <p:spPr>
          <a:xfrm>
            <a:off x="1295400" y="558990"/>
            <a:ext cx="2358788" cy="410882"/>
          </a:xfrm>
          <a:prstGeom prst="rect">
            <a:avLst/>
          </a:prstGeom>
        </p:spPr>
        <p:txBody>
          <a:bodyPr wrap="square">
            <a:spAutoFit/>
          </a:bodyPr>
          <a:lstStyle/>
          <a:p>
            <a:pPr algn="ctr">
              <a:lnSpc>
                <a:spcPct val="115000"/>
              </a:lnSpc>
              <a:spcAft>
                <a:spcPts val="1000"/>
              </a:spcAft>
            </a:pPr>
            <a:r>
              <a:rPr lang="en-US" b="1" dirty="0">
                <a:solidFill>
                  <a:srgbClr val="0000FF"/>
                </a:solidFill>
                <a:latin typeface="Times New Roman" panose="02020603050405020304" pitchFamily="18" charset="0"/>
                <a:ea typeface="Arial Unicode MS" panose="020B0604020202020204" pitchFamily="34" charset="-128"/>
                <a:cs typeface="Times New Roman" panose="02020603050405020304" pitchFamily="18" charset="0"/>
                <a:hlinkClick r:id="rId4" tooltip="Histogram"/>
              </a:rPr>
              <a:t>Histogram</a:t>
            </a:r>
            <a:r>
              <a:rPr lang="en-US" b="1"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7" name="Picture 6" descr="C:\Users\Manju\Desktop\Chart_files\115px-Frsljningsstatistik_fr_blanddrycker.png">
            <a:hlinkClick r:id="rId5"/>
          </p:cNvPr>
          <p:cNvPicPr/>
          <p:nvPr/>
        </p:nvPicPr>
        <p:blipFill>
          <a:blip r:embed="rId6" cstate="print"/>
          <a:srcRect/>
          <a:stretch>
            <a:fillRect/>
          </a:stretch>
        </p:blipFill>
        <p:spPr bwMode="auto">
          <a:xfrm>
            <a:off x="5334000" y="1621554"/>
            <a:ext cx="3276600" cy="2188446"/>
          </a:xfrm>
          <a:prstGeom prst="rect">
            <a:avLst/>
          </a:prstGeom>
          <a:noFill/>
          <a:ln w="9525">
            <a:noFill/>
            <a:miter lim="800000"/>
            <a:headEnd/>
            <a:tailEnd/>
          </a:ln>
        </p:spPr>
      </p:pic>
      <p:sp>
        <p:nvSpPr>
          <p:cNvPr id="8" name="Rectangle 7"/>
          <p:cNvSpPr/>
          <p:nvPr/>
        </p:nvSpPr>
        <p:spPr>
          <a:xfrm>
            <a:off x="6096000" y="558990"/>
            <a:ext cx="1905000" cy="385042"/>
          </a:xfrm>
          <a:prstGeom prst="rect">
            <a:avLst/>
          </a:prstGeom>
        </p:spPr>
        <p:txBody>
          <a:bodyPr wrap="square">
            <a:spAutoFit/>
          </a:bodyPr>
          <a:lstStyle/>
          <a:p>
            <a:pPr algn="ctr">
              <a:lnSpc>
                <a:spcPct val="115000"/>
              </a:lnSpc>
              <a:spcAft>
                <a:spcPts val="1000"/>
              </a:spcAft>
            </a:pPr>
            <a:r>
              <a:rPr lang="en-US" b="1" dirty="0">
                <a:latin typeface="Times New Roman" panose="02020603050405020304" pitchFamily="18" charset="0"/>
                <a:ea typeface="Arial Unicode MS" panose="020B0604020202020204" pitchFamily="34" charset="-128"/>
                <a:cs typeface="Times New Roman" panose="02020603050405020304" pitchFamily="18" charset="0"/>
                <a:hlinkClick r:id="rId7" tooltip="Bar chart"/>
              </a:rPr>
              <a:t>Bar chart</a:t>
            </a:r>
            <a:r>
              <a:rPr lang="en-US" b="1"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9" name="Picture 8" descr="http://upload.wikimedia.org/wikipedia/commons/0/02/HistFreqPoly.JPG"/>
          <p:cNvPicPr/>
          <p:nvPr/>
        </p:nvPicPr>
        <p:blipFill>
          <a:blip r:embed="rId8"/>
          <a:srcRect/>
          <a:stretch>
            <a:fillRect/>
          </a:stretch>
        </p:blipFill>
        <p:spPr bwMode="auto">
          <a:xfrm>
            <a:off x="3276600" y="4267200"/>
            <a:ext cx="3124200" cy="2228851"/>
          </a:xfrm>
          <a:prstGeom prst="rect">
            <a:avLst/>
          </a:prstGeom>
          <a:noFill/>
          <a:ln w="9525">
            <a:noFill/>
            <a:miter lim="800000"/>
            <a:headEnd/>
            <a:tailEnd/>
          </a:ln>
        </p:spPr>
      </p:pic>
      <p:sp>
        <p:nvSpPr>
          <p:cNvPr id="10" name="Rectangle 9"/>
          <p:cNvSpPr/>
          <p:nvPr/>
        </p:nvSpPr>
        <p:spPr>
          <a:xfrm>
            <a:off x="908856" y="4484840"/>
            <a:ext cx="2072042" cy="410882"/>
          </a:xfrm>
          <a:prstGeom prst="rect">
            <a:avLst/>
          </a:prstGeom>
        </p:spPr>
        <p:txBody>
          <a:bodyPr wrap="none">
            <a:spAutoFit/>
          </a:bodyPr>
          <a:lstStyle/>
          <a:p>
            <a:pPr algn="just">
              <a:lnSpc>
                <a:spcPct val="115000"/>
              </a:lnSpc>
            </a:pPr>
            <a:r>
              <a:rPr lang="en-US" b="1" dirty="0">
                <a:latin typeface="Times New Roman" panose="02020603050405020304" pitchFamily="18" charset="0"/>
                <a:ea typeface="Arial Unicode MS" panose="020B0604020202020204" pitchFamily="34" charset="-128"/>
                <a:cs typeface="Times New Roman" panose="02020603050405020304" pitchFamily="18" charset="0"/>
              </a:rPr>
              <a:t>Frequency polygon</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693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Manju\Desktop\Chart_files\120px-Actionnariat_Lib.png">
            <a:hlinkClick r:id="rId2"/>
          </p:cNvPr>
          <p:cNvPicPr/>
          <p:nvPr/>
        </p:nvPicPr>
        <p:blipFill>
          <a:blip r:embed="rId3" cstate="print"/>
          <a:srcRect/>
          <a:stretch>
            <a:fillRect/>
          </a:stretch>
        </p:blipFill>
        <p:spPr bwMode="auto">
          <a:xfrm>
            <a:off x="1828800" y="1219200"/>
            <a:ext cx="3124200" cy="2514600"/>
          </a:xfrm>
          <a:prstGeom prst="rect">
            <a:avLst/>
          </a:prstGeom>
          <a:noFill/>
          <a:ln w="9525">
            <a:noFill/>
            <a:miter lim="800000"/>
            <a:headEnd/>
            <a:tailEnd/>
          </a:ln>
        </p:spPr>
      </p:pic>
      <p:sp>
        <p:nvSpPr>
          <p:cNvPr id="5" name="Rectangle 4"/>
          <p:cNvSpPr/>
          <p:nvPr/>
        </p:nvSpPr>
        <p:spPr>
          <a:xfrm>
            <a:off x="1252360" y="381000"/>
            <a:ext cx="1795640" cy="385042"/>
          </a:xfrm>
          <a:prstGeom prst="rect">
            <a:avLst/>
          </a:prstGeom>
        </p:spPr>
        <p:txBody>
          <a:bodyPr wrap="square">
            <a:spAutoFit/>
          </a:bodyPr>
          <a:lstStyle/>
          <a:p>
            <a:pPr algn="ctr">
              <a:lnSpc>
                <a:spcPct val="115000"/>
              </a:lnSpc>
              <a:spcAft>
                <a:spcPts val="1000"/>
              </a:spcAft>
            </a:pPr>
            <a:r>
              <a:rPr lang="en-US" b="1" dirty="0">
                <a:solidFill>
                  <a:srgbClr val="0000FF"/>
                </a:solidFill>
                <a:latin typeface="Times New Roman" panose="02020603050405020304" pitchFamily="18" charset="0"/>
                <a:ea typeface="Arial Unicode MS" panose="020B0604020202020204" pitchFamily="34" charset="-128"/>
                <a:cs typeface="Times New Roman" panose="02020603050405020304" pitchFamily="18" charset="0"/>
                <a:hlinkClick r:id="rId4" tooltip="Pie chart"/>
              </a:rPr>
              <a:t>Pie chart</a:t>
            </a:r>
            <a:r>
              <a:rPr lang="en-US" b="1"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6" name="Picture 5" descr="http://upload.wikimedia.org/wikipedia/commons/0/0f/Oldfaithful3.png"/>
          <p:cNvPicPr/>
          <p:nvPr/>
        </p:nvPicPr>
        <p:blipFill>
          <a:blip r:embed="rId5"/>
          <a:srcRect/>
          <a:stretch>
            <a:fillRect/>
          </a:stretch>
        </p:blipFill>
        <p:spPr bwMode="auto">
          <a:xfrm>
            <a:off x="5410200" y="794474"/>
            <a:ext cx="3236595" cy="2253525"/>
          </a:xfrm>
          <a:prstGeom prst="rect">
            <a:avLst/>
          </a:prstGeom>
          <a:noFill/>
          <a:ln w="9525">
            <a:noFill/>
            <a:miter lim="800000"/>
            <a:headEnd/>
            <a:tailEnd/>
          </a:ln>
        </p:spPr>
      </p:pic>
      <p:sp>
        <p:nvSpPr>
          <p:cNvPr id="7" name="Rectangle 6"/>
          <p:cNvSpPr/>
          <p:nvPr/>
        </p:nvSpPr>
        <p:spPr>
          <a:xfrm>
            <a:off x="6101480" y="329002"/>
            <a:ext cx="1854034" cy="410882"/>
          </a:xfrm>
          <a:prstGeom prst="rect">
            <a:avLst/>
          </a:prstGeom>
        </p:spPr>
        <p:txBody>
          <a:bodyPr wrap="none">
            <a:spAutoFit/>
          </a:bodyPr>
          <a:lstStyle/>
          <a:p>
            <a:pPr algn="just">
              <a:lnSpc>
                <a:spcPct val="115000"/>
              </a:lnSpc>
              <a:spcAft>
                <a:spcPts val="100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Scatter diagram:</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8" name="Picture 7" descr="undefined">
            <a:hlinkClick r:id="rId6"/>
          </p:cNvPr>
          <p:cNvPicPr/>
          <p:nvPr/>
        </p:nvPicPr>
        <p:blipFill>
          <a:blip r:embed="rId7" cstate="print"/>
          <a:srcRect/>
          <a:stretch>
            <a:fillRect/>
          </a:stretch>
        </p:blipFill>
        <p:spPr bwMode="auto">
          <a:xfrm>
            <a:off x="1676400" y="4343400"/>
            <a:ext cx="2514600" cy="1905000"/>
          </a:xfrm>
          <a:prstGeom prst="rect">
            <a:avLst/>
          </a:prstGeom>
          <a:noFill/>
          <a:ln w="9525">
            <a:noFill/>
            <a:miter lim="800000"/>
            <a:headEnd/>
            <a:tailEnd/>
          </a:ln>
        </p:spPr>
      </p:pic>
      <p:sp>
        <p:nvSpPr>
          <p:cNvPr id="9" name="Rectangle 8"/>
          <p:cNvSpPr/>
          <p:nvPr/>
        </p:nvSpPr>
        <p:spPr>
          <a:xfrm>
            <a:off x="525757" y="3898399"/>
            <a:ext cx="1293944" cy="410882"/>
          </a:xfrm>
          <a:prstGeom prst="rect">
            <a:avLst/>
          </a:prstGeom>
        </p:spPr>
        <p:txBody>
          <a:bodyPr wrap="none">
            <a:spAutoFit/>
          </a:bodyPr>
          <a:lstStyle/>
          <a:p>
            <a:pPr algn="just">
              <a:lnSpc>
                <a:spcPct val="115000"/>
              </a:lnSpc>
              <a:spcAft>
                <a:spcPts val="1000"/>
              </a:spcAft>
            </a:pPr>
            <a:r>
              <a:rPr lang="en-US" b="1" dirty="0">
                <a:latin typeface="Times New Roman" panose="02020603050405020304" pitchFamily="18" charset="0"/>
                <a:ea typeface="Arial Unicode MS" panose="020B0604020202020204" pitchFamily="34" charset="-128"/>
                <a:cs typeface="Times New Roman" panose="02020603050405020304" pitchFamily="18" charset="0"/>
                <a:hlinkClick r:id="rId8" tooltip="Line chart"/>
              </a:rPr>
              <a:t>Line chart</a:t>
            </a:r>
            <a:r>
              <a:rPr lang="en-US" b="1"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 name="Picture 9" descr="http://upload.wikimedia.org/wikipedia/commons/thumb/f/fa/Michelsonmorley-boxplot.svg/432px-Michelsonmorley-boxplot.svg.png"/>
          <p:cNvPicPr/>
          <p:nvPr/>
        </p:nvPicPr>
        <p:blipFill>
          <a:blip r:embed="rId9"/>
          <a:srcRect/>
          <a:stretch>
            <a:fillRect/>
          </a:stretch>
        </p:blipFill>
        <p:spPr bwMode="auto">
          <a:xfrm>
            <a:off x="5562600" y="4343400"/>
            <a:ext cx="2392914" cy="1904999"/>
          </a:xfrm>
          <a:prstGeom prst="rect">
            <a:avLst/>
          </a:prstGeom>
          <a:noFill/>
          <a:ln w="9525">
            <a:noFill/>
            <a:miter lim="800000"/>
            <a:headEnd/>
            <a:tailEnd/>
          </a:ln>
        </p:spPr>
      </p:pic>
      <p:sp>
        <p:nvSpPr>
          <p:cNvPr id="11" name="Rectangle 10"/>
          <p:cNvSpPr/>
          <p:nvPr/>
        </p:nvSpPr>
        <p:spPr>
          <a:xfrm>
            <a:off x="6170856" y="3898399"/>
            <a:ext cx="1011815" cy="410882"/>
          </a:xfrm>
          <a:prstGeom prst="rect">
            <a:avLst/>
          </a:prstGeom>
        </p:spPr>
        <p:txBody>
          <a:bodyPr wrap="none">
            <a:spAutoFit/>
          </a:bodyPr>
          <a:lstStyle/>
          <a:p>
            <a:pPr algn="just">
              <a:lnSpc>
                <a:spcPct val="115000"/>
              </a:lnSpc>
            </a:pPr>
            <a:r>
              <a:rPr lang="en-US" b="1" dirty="0">
                <a:latin typeface="Times New Roman" panose="02020603050405020304" pitchFamily="18" charset="0"/>
                <a:ea typeface="Arial Unicode MS" panose="020B0604020202020204" pitchFamily="34" charset="-128"/>
                <a:cs typeface="Times New Roman" panose="02020603050405020304" pitchFamily="18" charset="0"/>
              </a:rPr>
              <a:t>Box plot</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890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rc_mi" descr="http://image.mathcaptain.com/cms/images/106/less-than-cumulative-frequency.png"/>
          <p:cNvPicPr/>
          <p:nvPr/>
        </p:nvPicPr>
        <p:blipFill>
          <a:blip r:embed="rId2"/>
          <a:srcRect/>
          <a:stretch>
            <a:fillRect/>
          </a:stretch>
        </p:blipFill>
        <p:spPr bwMode="auto">
          <a:xfrm>
            <a:off x="1828800" y="990600"/>
            <a:ext cx="5029199" cy="3419475"/>
          </a:xfrm>
          <a:prstGeom prst="rect">
            <a:avLst/>
          </a:prstGeom>
          <a:noFill/>
          <a:ln w="9525">
            <a:noFill/>
            <a:miter lim="800000"/>
            <a:headEnd/>
            <a:tailEnd/>
          </a:ln>
        </p:spPr>
      </p:pic>
      <p:sp>
        <p:nvSpPr>
          <p:cNvPr id="5" name="Rectangle 4"/>
          <p:cNvSpPr/>
          <p:nvPr/>
        </p:nvSpPr>
        <p:spPr>
          <a:xfrm>
            <a:off x="2590800" y="381000"/>
            <a:ext cx="4062009" cy="410882"/>
          </a:xfrm>
          <a:prstGeom prst="rect">
            <a:avLst/>
          </a:prstGeom>
        </p:spPr>
        <p:txBody>
          <a:bodyPr wrap="none">
            <a:spAutoFit/>
          </a:bodyPr>
          <a:lstStyle/>
          <a:p>
            <a:pPr algn="just">
              <a:lnSpc>
                <a:spcPct val="115000"/>
              </a:lnSpc>
              <a:spcAft>
                <a:spcPts val="1000"/>
              </a:spcAft>
            </a:pPr>
            <a:r>
              <a:rPr lang="en-US" b="1" dirty="0">
                <a:latin typeface="Times New Roman" panose="02020603050405020304" pitchFamily="18" charset="0"/>
                <a:ea typeface="Arial Unicode MS" panose="020B0604020202020204" pitchFamily="34" charset="-128"/>
                <a:cs typeface="Times New Roman" panose="02020603050405020304" pitchFamily="18" charset="0"/>
              </a:rPr>
              <a:t>Cumulative frequency polygon or </a:t>
            </a:r>
            <a:r>
              <a:rPr lang="en-US" b="1" dirty="0" err="1">
                <a:latin typeface="Times New Roman" panose="02020603050405020304" pitchFamily="18" charset="0"/>
                <a:ea typeface="Arial Unicode MS" panose="020B0604020202020204" pitchFamily="34" charset="-128"/>
                <a:cs typeface="Times New Roman" panose="02020603050405020304" pitchFamily="18" charset="0"/>
              </a:rPr>
              <a:t>ogive</a:t>
            </a:r>
            <a:endParaRPr lang="en-US"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716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 y="76199"/>
            <a:ext cx="914400" cy="838200"/>
          </a:xfrm>
          <a:prstGeom prst="rect">
            <a:avLst/>
          </a:prstGeom>
          <a:noFill/>
          <a:ln>
            <a:noFill/>
          </a:ln>
        </p:spPr>
      </p:pic>
      <p:pic>
        <p:nvPicPr>
          <p:cNvPr id="5" name="Picture 4" descr="Graduation cap and diploma"/>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8229600" y="0"/>
            <a:ext cx="914400" cy="838200"/>
          </a:xfrm>
          <a:prstGeom prst="rect">
            <a:avLst/>
          </a:prstGeom>
          <a:noFill/>
          <a:ln>
            <a:noFill/>
          </a:ln>
        </p:spPr>
      </p:pic>
      <p:sp>
        <p:nvSpPr>
          <p:cNvPr id="6" name="Rectangle 5"/>
          <p:cNvSpPr/>
          <p:nvPr/>
        </p:nvSpPr>
        <p:spPr>
          <a:xfrm>
            <a:off x="2133600" y="2392740"/>
            <a:ext cx="4715119" cy="1569660"/>
          </a:xfrm>
          <a:prstGeom prst="rect">
            <a:avLst/>
          </a:prstGeom>
          <a:noFill/>
        </p:spPr>
        <p:txBody>
          <a:bodyPr wrap="square" lIns="91440" tIns="45720" rIns="91440" bIns="45720">
            <a:spAutoFit/>
          </a:bodyPr>
          <a:lstStyle/>
          <a:p>
            <a:pPr algn="ctr"/>
            <a:r>
              <a:rPr lang="en-US" sz="96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Thanks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330</TotalTime>
  <Words>2554</Words>
  <Application>Microsoft Office PowerPoint</Application>
  <PresentationFormat>On-screen Show (4:3)</PresentationFormat>
  <Paragraphs>232</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Population:  </vt:lpstr>
      <vt:lpstr>PowerPoint Presentation</vt:lpstr>
      <vt:lpstr>Variable</vt:lpstr>
      <vt:lpstr>PowerPoint Presentation</vt:lpstr>
      <vt:lpstr>DATA</vt:lpstr>
      <vt:lpstr>Methods of collecting primary data:  </vt:lpstr>
      <vt:lpstr>Secondary data:  </vt:lpstr>
      <vt:lpstr> Important Sources of Secondary Data: </vt:lpstr>
      <vt:lpstr>Scrutiny of secondary Data/ Precautions should be taken before using secondary data:  </vt:lpstr>
      <vt:lpstr>PowerPoint Presentation</vt:lpstr>
      <vt:lpstr>Disadvantage:  </vt:lpstr>
      <vt:lpstr>PowerPoint Presentation</vt:lpstr>
      <vt:lpstr>PowerPoint Presentation</vt:lpstr>
      <vt:lpstr>PowerPoint Presentation</vt:lpstr>
      <vt:lpstr>Measurement and Scaling </vt:lpstr>
      <vt:lpstr>MEASUREMENT AND SCALING</vt:lpstr>
      <vt:lpstr>Comparative Study of Primary Scales of Measurement: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by adguard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Parhin</dc:creator>
  <cp:lastModifiedBy>ASUS</cp:lastModifiedBy>
  <cp:revision>140</cp:revision>
  <dcterms:created xsi:type="dcterms:W3CDTF">2018-03-17T06:15:10Z</dcterms:created>
  <dcterms:modified xsi:type="dcterms:W3CDTF">2025-09-06T16:23:15Z</dcterms:modified>
</cp:coreProperties>
</file>