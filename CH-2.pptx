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64" r:id="rId5"/>
    <p:sldId id="259" r:id="rId6"/>
    <p:sldId id="260" r:id="rId7"/>
    <p:sldId id="261" r:id="rId8"/>
    <p:sldId id="262" r:id="rId9"/>
    <p:sldId id="265" r:id="rId10"/>
    <p:sldId id="266" r:id="rId11"/>
    <p:sldId id="267" r:id="rId12"/>
    <p:sldId id="268" r:id="rId13"/>
    <p:sldId id="269" r:id="rId14"/>
    <p:sldId id="270" r:id="rId15"/>
    <p:sldId id="271" r:id="rId16"/>
    <p:sldId id="272"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34" autoAdjust="0"/>
  </p:normalViewPr>
  <p:slideViewPr>
    <p:cSldViewPr>
      <p:cViewPr varScale="1">
        <p:scale>
          <a:sx n="69" d="100"/>
          <a:sy n="69" d="100"/>
        </p:scale>
        <p:origin x="546"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7" Type="http://schemas.openxmlformats.org/officeDocument/2006/relationships/image" Target="../media/image8.wmf"/><Relationship Id="rId2" Type="http://schemas.openxmlformats.org/officeDocument/2006/relationships/image" Target="../media/image3.wmf"/><Relationship Id="rId1" Type="http://schemas.openxmlformats.org/officeDocument/2006/relationships/image" Target="../media/image2.wmf"/><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4" Type="http://schemas.openxmlformats.org/officeDocument/2006/relationships/image" Target="../media/image21.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04C624C-B899-4571-8B00-C90DC0325532}"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EDC26C-DE9F-44E9-BD69-D3FB988A6D2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04C624C-B899-4571-8B00-C90DC0325532}"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EDC26C-DE9F-44E9-BD69-D3FB988A6D2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04C624C-B899-4571-8B00-C90DC0325532}"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EDC26C-DE9F-44E9-BD69-D3FB988A6D2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04C624C-B899-4571-8B00-C90DC0325532}" type="datetimeFigureOut">
              <a:rPr lang="en-US" smtClean="0"/>
              <a:pPr/>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EDC26C-DE9F-44E9-BD69-D3FB988A6D2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04C624C-B899-4571-8B00-C90DC0325532}" type="datetimeFigureOut">
              <a:rPr lang="en-US" smtClean="0"/>
              <a:pPr/>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EDC26C-DE9F-44E9-BD69-D3FB988A6D2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04C624C-B899-4571-8B00-C90DC0325532}" type="datetimeFigureOut">
              <a:rPr lang="en-US" smtClean="0"/>
              <a:pPr/>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EDC26C-DE9F-44E9-BD69-D3FB988A6D2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4C624C-B899-4571-8B00-C90DC0325532}" type="datetimeFigureOut">
              <a:rPr lang="en-US" smtClean="0"/>
              <a:pPr/>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EDC26C-DE9F-44E9-BD69-D3FB988A6D2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04C624C-B899-4571-8B00-C90DC0325532}" type="datetimeFigureOut">
              <a:rPr lang="en-US" smtClean="0"/>
              <a:pPr/>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EDC26C-DE9F-44E9-BD69-D3FB988A6D2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04C624C-B899-4571-8B00-C90DC0325532}" type="datetimeFigureOut">
              <a:rPr lang="en-US" smtClean="0"/>
              <a:pPr/>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EDC26C-DE9F-44E9-BD69-D3FB988A6D2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04C624C-B899-4571-8B00-C90DC0325532}"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EDC26C-DE9F-44E9-BD69-D3FB988A6D2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04C624C-B899-4571-8B00-C90DC0325532}"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EDC26C-DE9F-44E9-BD69-D3FB988A6D2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4C624C-B899-4571-8B00-C90DC0325532}" type="datetimeFigureOut">
              <a:rPr lang="en-US" smtClean="0"/>
              <a:pPr/>
              <a:t>9/8/2026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EDC26C-DE9F-44E9-BD69-D3FB988A6D2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4.wmf"/><Relationship Id="rId13"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6.wmf"/><Relationship Id="rId17" Type="http://schemas.openxmlformats.org/officeDocument/2006/relationships/image" Target="../media/image9.png"/><Relationship Id="rId2" Type="http://schemas.openxmlformats.org/officeDocument/2006/relationships/slideLayout" Target="../slideLayouts/slideLayout2.xml"/><Relationship Id="rId16" Type="http://schemas.openxmlformats.org/officeDocument/2006/relationships/image" Target="../media/image8.wmf"/><Relationship Id="rId1" Type="http://schemas.openxmlformats.org/officeDocument/2006/relationships/vmlDrawing" Target="../drawings/vmlDrawing1.vml"/><Relationship Id="rId6" Type="http://schemas.openxmlformats.org/officeDocument/2006/relationships/image" Target="../media/image3.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5.wmf"/><Relationship Id="rId4" Type="http://schemas.openxmlformats.org/officeDocument/2006/relationships/image" Target="../media/image2.wmf"/><Relationship Id="rId9" Type="http://schemas.openxmlformats.org/officeDocument/2006/relationships/oleObject" Target="../embeddings/oleObject4.bin"/><Relationship Id="rId14" Type="http://schemas.openxmlformats.org/officeDocument/2006/relationships/image" Target="../media/image7.wmf"/></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2.wmf"/><Relationship Id="rId5" Type="http://schemas.openxmlformats.org/officeDocument/2006/relationships/oleObject" Target="../embeddings/oleObject9.bin"/><Relationship Id="rId4" Type="http://schemas.openxmlformats.org/officeDocument/2006/relationships/image" Target="../media/image11.wmf"/></Relationships>
</file>

<file path=ppt/slides/_rels/slide6.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4.wmf"/><Relationship Id="rId5" Type="http://schemas.openxmlformats.org/officeDocument/2006/relationships/oleObject" Target="../embeddings/oleObject11.bin"/><Relationship Id="rId4" Type="http://schemas.openxmlformats.org/officeDocument/2006/relationships/image" Target="../media/image13.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3.bin"/><Relationship Id="rId7"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3.wmf"/><Relationship Id="rId5" Type="http://schemas.openxmlformats.org/officeDocument/2006/relationships/oleObject" Target="../embeddings/oleObject14.bin"/><Relationship Id="rId4" Type="http://schemas.openxmlformats.org/officeDocument/2006/relationships/image" Target="../media/image16.w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image" Target="../media/image22.png"/><Relationship Id="rId7" Type="http://schemas.openxmlformats.org/officeDocument/2006/relationships/image" Target="../media/image19.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6.bin"/><Relationship Id="rId11" Type="http://schemas.openxmlformats.org/officeDocument/2006/relationships/image" Target="../media/image21.wmf"/><Relationship Id="rId5" Type="http://schemas.openxmlformats.org/officeDocument/2006/relationships/image" Target="../media/image18.wmf"/><Relationship Id="rId10" Type="http://schemas.openxmlformats.org/officeDocument/2006/relationships/oleObject" Target="../embeddings/oleObject18.bin"/><Relationship Id="rId4" Type="http://schemas.openxmlformats.org/officeDocument/2006/relationships/oleObject" Target="../embeddings/oleObject15.bin"/><Relationship Id="rId9" Type="http://schemas.openxmlformats.org/officeDocument/2006/relationships/image" Target="../media/image20.wmf"/></Relationships>
</file>

<file path=ppt/slides/_rels/slide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Graduation cap and diploma"/>
          <p:cNvPicPr/>
          <p:nvPr/>
        </p:nvPicPr>
        <p:blipFill>
          <a:blip r:embed="rId2">
            <a:extLst>
              <a:ext uri="{28A0092B-C50C-407E-A947-70E740481C1C}">
                <a14:useLocalDpi xmlns:a14="http://schemas.microsoft.com/office/drawing/2010/main" val="0"/>
              </a:ext>
            </a:extLst>
          </a:blip>
          <a:srcRect/>
          <a:stretch>
            <a:fillRect/>
          </a:stretch>
        </p:blipFill>
        <p:spPr bwMode="auto">
          <a:xfrm rot="10800000">
            <a:off x="1" y="76199"/>
            <a:ext cx="1219200" cy="1143000"/>
          </a:xfrm>
          <a:prstGeom prst="rect">
            <a:avLst/>
          </a:prstGeom>
          <a:noFill/>
          <a:ln>
            <a:noFill/>
          </a:ln>
        </p:spPr>
      </p:pic>
      <p:pic>
        <p:nvPicPr>
          <p:cNvPr id="5" name="Picture 4" descr="Graduation cap and diploma"/>
          <p:cNvPicPr/>
          <p:nvPr/>
        </p:nvPicPr>
        <p:blipFill>
          <a:blip r:embed="rId2">
            <a:extLst>
              <a:ext uri="{28A0092B-C50C-407E-A947-70E740481C1C}">
                <a14:useLocalDpi xmlns:a14="http://schemas.microsoft.com/office/drawing/2010/main" val="0"/>
              </a:ext>
            </a:extLst>
          </a:blip>
          <a:srcRect/>
          <a:stretch>
            <a:fillRect/>
          </a:stretch>
        </p:blipFill>
        <p:spPr bwMode="auto">
          <a:xfrm rot="10800000">
            <a:off x="7924800" y="0"/>
            <a:ext cx="1219200" cy="1143000"/>
          </a:xfrm>
          <a:prstGeom prst="rect">
            <a:avLst/>
          </a:prstGeom>
          <a:noFill/>
          <a:ln>
            <a:noFill/>
          </a:ln>
        </p:spPr>
      </p:pic>
      <p:sp>
        <p:nvSpPr>
          <p:cNvPr id="2" name="Rectangle 1"/>
          <p:cNvSpPr/>
          <p:nvPr/>
        </p:nvSpPr>
        <p:spPr>
          <a:xfrm>
            <a:off x="1050878" y="457200"/>
            <a:ext cx="6873922" cy="1958326"/>
          </a:xfrm>
          <a:prstGeom prst="rect">
            <a:avLst/>
          </a:prstGeom>
        </p:spPr>
        <p:txBody>
          <a:bodyPr wrap="square">
            <a:spAutoFit/>
          </a:bodyPr>
          <a:lstStyle/>
          <a:p>
            <a:pPr algn="ctr"/>
            <a:r>
              <a:rPr lang="en-US" sz="2400" b="1" dirty="0" smtClean="0">
                <a:latin typeface="Times New Roman" panose="02020603050405020304" pitchFamily="18" charset="0"/>
                <a:ea typeface="Times New Roman" panose="02020603050405020304" pitchFamily="18" charset="0"/>
              </a:rPr>
              <a:t>Chapter TWO</a:t>
            </a:r>
          </a:p>
          <a:p>
            <a:pPr algn="ctr"/>
            <a:endParaRPr lang="en-US" sz="2400" b="1" dirty="0" smtClean="0">
              <a:latin typeface="Times New Roman" panose="02020603050405020304" pitchFamily="18" charset="0"/>
              <a:ea typeface="Times New Roman" panose="02020603050405020304" pitchFamily="18" charset="0"/>
            </a:endParaRPr>
          </a:p>
          <a:p>
            <a:pPr algn="ctr"/>
            <a:r>
              <a:rPr lang="en-US" sz="2400" b="1" dirty="0" smtClean="0">
                <a:latin typeface="Times New Roman" panose="02020603050405020304" pitchFamily="18" charset="0"/>
                <a:ea typeface="Times New Roman" panose="02020603050405020304" pitchFamily="18" charset="0"/>
              </a:rPr>
              <a:t>Measures </a:t>
            </a:r>
            <a:r>
              <a:rPr lang="en-US" sz="2400" b="1" dirty="0">
                <a:latin typeface="Times New Roman" panose="02020603050405020304" pitchFamily="18" charset="0"/>
                <a:ea typeface="Times New Roman" panose="02020603050405020304" pitchFamily="18" charset="0"/>
              </a:rPr>
              <a:t>of Central Tendency </a:t>
            </a:r>
            <a:endParaRPr lang="en-US" sz="2400" dirty="0">
              <a:latin typeface="Times New Roman" panose="02020603050405020304" pitchFamily="18" charset="0"/>
              <a:ea typeface="Times New Roman" panose="02020603050405020304" pitchFamily="18" charset="0"/>
            </a:endParaRPr>
          </a:p>
          <a:p>
            <a:pPr algn="ctr"/>
            <a:r>
              <a:rPr lang="en-US" sz="2400" b="1" dirty="0">
                <a:latin typeface="Times New Roman" panose="02020603050405020304" pitchFamily="18" charset="0"/>
                <a:ea typeface="Times New Roman" panose="02020603050405020304" pitchFamily="18" charset="0"/>
              </a:rPr>
              <a:t>Or </a:t>
            </a:r>
            <a:endParaRPr lang="en-US" sz="2400" dirty="0">
              <a:latin typeface="Times New Roman" panose="02020603050405020304" pitchFamily="18" charset="0"/>
              <a:ea typeface="Times New Roman" panose="02020603050405020304" pitchFamily="18" charset="0"/>
            </a:endParaRPr>
          </a:p>
          <a:p>
            <a:pPr algn="ctr"/>
            <a:r>
              <a:rPr lang="en-US" sz="2400" b="1" dirty="0">
                <a:latin typeface="Times New Roman" panose="02020603050405020304" pitchFamily="18" charset="0"/>
                <a:ea typeface="Times New Roman" panose="02020603050405020304" pitchFamily="18" charset="0"/>
              </a:rPr>
              <a:t>Measures of Location</a:t>
            </a:r>
            <a:endParaRPr lang="en-US" sz="2400" dirty="0">
              <a:effectLst/>
              <a:latin typeface="Times New Roman" panose="02020603050405020304" pitchFamily="18" charset="0"/>
              <a:ea typeface="Times New Roman" panose="02020603050405020304" pitchFamily="18" charset="0"/>
            </a:endParaRPr>
          </a:p>
        </p:txBody>
      </p:sp>
      <p:sp>
        <p:nvSpPr>
          <p:cNvPr id="3" name="Rectangle 2"/>
          <p:cNvSpPr/>
          <p:nvPr/>
        </p:nvSpPr>
        <p:spPr>
          <a:xfrm>
            <a:off x="457200" y="1720840"/>
            <a:ext cx="7924800" cy="4801314"/>
          </a:xfrm>
          <a:prstGeom prst="rect">
            <a:avLst/>
          </a:prstGeom>
        </p:spPr>
        <p:txBody>
          <a:bodyPr wrap="square">
            <a:spAutoFit/>
          </a:bodyPr>
          <a:lstStyle/>
          <a:p>
            <a:pPr algn="just">
              <a:tabLst>
                <a:tab pos="628650" algn="l"/>
              </a:tabLst>
            </a:pPr>
            <a:endParaRPr lang="en-US" b="1" dirty="0" smtClean="0">
              <a:latin typeface="Times New Roman" panose="02020603050405020304" pitchFamily="18" charset="0"/>
              <a:ea typeface="Times New Roman" panose="02020603050405020304" pitchFamily="18" charset="0"/>
            </a:endParaRPr>
          </a:p>
          <a:p>
            <a:pPr algn="just">
              <a:tabLst>
                <a:tab pos="628650" algn="l"/>
              </a:tabLst>
            </a:pPr>
            <a:endParaRPr lang="en-US" b="1" dirty="0">
              <a:latin typeface="Times New Roman" panose="02020603050405020304" pitchFamily="18" charset="0"/>
              <a:ea typeface="Times New Roman" panose="02020603050405020304" pitchFamily="18" charset="0"/>
            </a:endParaRPr>
          </a:p>
          <a:p>
            <a:pPr algn="just">
              <a:tabLst>
                <a:tab pos="628650" algn="l"/>
              </a:tabLst>
            </a:pPr>
            <a:endParaRPr lang="en-US" b="1" dirty="0" smtClean="0">
              <a:latin typeface="Times New Roman" panose="02020603050405020304" pitchFamily="18" charset="0"/>
              <a:ea typeface="Times New Roman" panose="02020603050405020304" pitchFamily="18" charset="0"/>
            </a:endParaRPr>
          </a:p>
          <a:p>
            <a:pPr algn="just">
              <a:tabLst>
                <a:tab pos="628650" algn="l"/>
              </a:tabLst>
            </a:pPr>
            <a:r>
              <a:rPr lang="en-US" b="1" dirty="0" smtClean="0">
                <a:latin typeface="Times New Roman" panose="02020603050405020304" pitchFamily="18" charset="0"/>
                <a:ea typeface="Times New Roman" panose="02020603050405020304" pitchFamily="18" charset="0"/>
              </a:rPr>
              <a:t>Definition </a:t>
            </a:r>
            <a:endParaRPr lang="en-US" dirty="0">
              <a:latin typeface="Times New Roman" panose="02020603050405020304" pitchFamily="18" charset="0"/>
              <a:ea typeface="Times New Roman" panose="02020603050405020304" pitchFamily="18" charset="0"/>
            </a:endParaRPr>
          </a:p>
          <a:p>
            <a:pPr algn="just"/>
            <a:r>
              <a:rPr lang="en-US" b="1" dirty="0">
                <a:latin typeface="Times New Roman" panose="02020603050405020304" pitchFamily="18" charset="0"/>
                <a:ea typeface="Times New Roman" panose="02020603050405020304" pitchFamily="18" charset="0"/>
              </a:rPr>
              <a:t> </a:t>
            </a:r>
            <a:endParaRPr lang="en-US" dirty="0">
              <a:latin typeface="Times New Roman" panose="02020603050405020304" pitchFamily="18" charset="0"/>
              <a:ea typeface="Times New Roman" panose="02020603050405020304" pitchFamily="18" charset="0"/>
            </a:endParaRPr>
          </a:p>
          <a:p>
            <a:pPr algn="just"/>
            <a:r>
              <a:rPr lang="en-US" sz="2400" dirty="0">
                <a:latin typeface="Times New Roman" panose="02020603050405020304" pitchFamily="18" charset="0"/>
                <a:ea typeface="Times New Roman" panose="02020603050405020304" pitchFamily="18" charset="0"/>
              </a:rPr>
              <a:t>In a representative sample, the values of a series of data have a tendency to cluster around a certain point usually at the center of the series. This tendency of clustering the values around the center of the series is usually called tendency. And its numerical measures are called the measures of central tendency.</a:t>
            </a:r>
          </a:p>
          <a:p>
            <a:pPr algn="just"/>
            <a:r>
              <a:rPr lang="en-US" sz="2400" dirty="0">
                <a:latin typeface="Times New Roman" panose="02020603050405020304" pitchFamily="18" charset="0"/>
                <a:ea typeface="Times New Roman" panose="02020603050405020304" pitchFamily="18" charset="0"/>
              </a:rPr>
              <a:t>                                                         Or</a:t>
            </a:r>
          </a:p>
          <a:p>
            <a:pPr algn="just"/>
            <a:r>
              <a:rPr lang="en-US" sz="2400" dirty="0">
                <a:latin typeface="Times New Roman" panose="02020603050405020304" pitchFamily="18" charset="0"/>
                <a:ea typeface="Times New Roman" panose="02020603050405020304" pitchFamily="18" charset="0"/>
              </a:rPr>
              <a:t>A measure of central tendency is a typical value around which others figure congregate.</a:t>
            </a:r>
            <a:endParaRPr lang="en-US" sz="2400" dirty="0">
              <a:effectLst/>
              <a:latin typeface="Times New Roman" panose="02020603050405020304" pitchFamily="18" charset="0"/>
              <a:ea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457200"/>
            <a:ext cx="7467600" cy="5262979"/>
          </a:xfrm>
          <a:prstGeom prst="rect">
            <a:avLst/>
          </a:prstGeom>
        </p:spPr>
        <p:txBody>
          <a:bodyPr wrap="square">
            <a:spAutoFit/>
          </a:bodyPr>
          <a:lstStyle/>
          <a:p>
            <a:pPr algn="just"/>
            <a:r>
              <a:rPr lang="en-US" sz="2400" b="1" dirty="0">
                <a:latin typeface="Times New Roman" panose="02020603050405020304" pitchFamily="18" charset="0"/>
                <a:ea typeface="Times New Roman" panose="02020603050405020304" pitchFamily="18" charset="0"/>
              </a:rPr>
              <a:t>Objectives of Measures of central tendency:</a:t>
            </a:r>
            <a:endParaRPr lang="en-US" sz="2400" dirty="0">
              <a:latin typeface="Times New Roman" panose="02020603050405020304" pitchFamily="18" charset="0"/>
              <a:ea typeface="Times New Roman" panose="02020603050405020304" pitchFamily="18" charset="0"/>
            </a:endParaRPr>
          </a:p>
          <a:p>
            <a:pPr algn="just"/>
            <a:r>
              <a:rPr lang="en-US" sz="2400" b="1" dirty="0">
                <a:latin typeface="Times New Roman" panose="02020603050405020304" pitchFamily="18" charset="0"/>
                <a:ea typeface="Times New Roman" panose="02020603050405020304" pitchFamily="18" charset="0"/>
              </a:rPr>
              <a:t> </a:t>
            </a:r>
            <a:endParaRPr lang="en-US" sz="2400" dirty="0">
              <a:latin typeface="Times New Roman" panose="02020603050405020304" pitchFamily="18" charset="0"/>
              <a:ea typeface="Times New Roman" panose="02020603050405020304" pitchFamily="18" charset="0"/>
            </a:endParaRPr>
          </a:p>
          <a:p>
            <a:r>
              <a:rPr lang="en-US" sz="2400" dirty="0">
                <a:solidFill>
                  <a:srgbClr val="000000"/>
                </a:solidFill>
                <a:latin typeface="Times New Roman" panose="02020603050405020304" pitchFamily="18" charset="0"/>
                <a:ea typeface="Calibri" panose="020F0502020204030204" pitchFamily="34" charset="0"/>
                <a:cs typeface="Symbol" panose="05050102010706020507" pitchFamily="18" charset="2"/>
              </a:rPr>
              <a:t>1.  To get one single value that describes the characteristics of the entire data. </a:t>
            </a:r>
            <a:endParaRPr lang="en-US" sz="2400" dirty="0">
              <a:solidFill>
                <a:srgbClr val="000000"/>
              </a:solidFill>
              <a:latin typeface="Symbol" panose="05050102010706020507" pitchFamily="18" charset="2"/>
              <a:ea typeface="Calibri" panose="020F0502020204030204" pitchFamily="34" charset="0"/>
              <a:cs typeface="Symbol" panose="05050102010706020507" pitchFamily="18" charset="2"/>
            </a:endParaRPr>
          </a:p>
          <a:p>
            <a:r>
              <a:rPr lang="en-US" sz="2400" dirty="0">
                <a:solidFill>
                  <a:srgbClr val="000000"/>
                </a:solidFill>
                <a:latin typeface="Times New Roman" panose="02020603050405020304" pitchFamily="18" charset="0"/>
                <a:ea typeface="Calibri" panose="020F0502020204030204" pitchFamily="34" charset="0"/>
                <a:cs typeface="Symbol" panose="05050102010706020507" pitchFamily="18" charset="2"/>
              </a:rPr>
              <a:t>2.   To easily compare the data. </a:t>
            </a:r>
            <a:endParaRPr lang="en-US" sz="2400" dirty="0">
              <a:solidFill>
                <a:srgbClr val="000000"/>
              </a:solidFill>
              <a:latin typeface="Symbol" panose="05050102010706020507" pitchFamily="18" charset="2"/>
              <a:ea typeface="Calibri" panose="020F0502020204030204" pitchFamily="34" charset="0"/>
              <a:cs typeface="Symbol" panose="05050102010706020507" pitchFamily="18" charset="2"/>
            </a:endParaRPr>
          </a:p>
          <a:p>
            <a:pPr algn="just"/>
            <a:r>
              <a:rPr lang="en-US" sz="2400" dirty="0">
                <a:latin typeface="Times New Roman" panose="02020603050405020304" pitchFamily="18" charset="0"/>
                <a:ea typeface="Times New Roman" panose="02020603050405020304" pitchFamily="18" charset="0"/>
              </a:rPr>
              <a:t> </a:t>
            </a:r>
          </a:p>
          <a:p>
            <a:pPr algn="just"/>
            <a:r>
              <a:rPr lang="en-US" sz="2400" b="1" dirty="0">
                <a:latin typeface="Times New Roman" panose="02020603050405020304" pitchFamily="18" charset="0"/>
                <a:ea typeface="Times New Roman" panose="02020603050405020304" pitchFamily="18" charset="0"/>
              </a:rPr>
              <a:t>Types:</a:t>
            </a:r>
            <a:endParaRPr lang="en-US" sz="2400" dirty="0">
              <a:latin typeface="Times New Roman" panose="02020603050405020304" pitchFamily="18" charset="0"/>
              <a:ea typeface="Times New Roman" panose="02020603050405020304" pitchFamily="18" charset="0"/>
            </a:endParaRPr>
          </a:p>
          <a:p>
            <a:pPr algn="just"/>
            <a:r>
              <a:rPr lang="en-US" sz="2400" dirty="0">
                <a:latin typeface="Times New Roman" panose="02020603050405020304" pitchFamily="18" charset="0"/>
                <a:ea typeface="Times New Roman" panose="02020603050405020304" pitchFamily="18" charset="0"/>
              </a:rPr>
              <a:t> </a:t>
            </a:r>
          </a:p>
          <a:p>
            <a:pPr algn="just"/>
            <a:r>
              <a:rPr lang="en-US" sz="2400" dirty="0">
                <a:latin typeface="Times New Roman" panose="02020603050405020304" pitchFamily="18" charset="0"/>
                <a:ea typeface="Times New Roman" panose="02020603050405020304" pitchFamily="18" charset="0"/>
              </a:rPr>
              <a:t>Different measures of central tendency are as follows:</a:t>
            </a:r>
          </a:p>
          <a:p>
            <a:pPr algn="just"/>
            <a:r>
              <a:rPr lang="en-US" sz="2400" dirty="0">
                <a:latin typeface="Times New Roman" panose="02020603050405020304" pitchFamily="18" charset="0"/>
                <a:ea typeface="Times New Roman" panose="02020603050405020304" pitchFamily="18" charset="0"/>
              </a:rPr>
              <a:t>1. Arithmetic Mean (A.M.)</a:t>
            </a:r>
          </a:p>
          <a:p>
            <a:pPr algn="just"/>
            <a:r>
              <a:rPr lang="en-US" sz="2400" dirty="0">
                <a:latin typeface="Times New Roman" panose="02020603050405020304" pitchFamily="18" charset="0"/>
                <a:ea typeface="Times New Roman" panose="02020603050405020304" pitchFamily="18" charset="0"/>
              </a:rPr>
              <a:t>2. Geometric Mean (G.M.)</a:t>
            </a:r>
          </a:p>
          <a:p>
            <a:pPr algn="just"/>
            <a:r>
              <a:rPr lang="en-US" sz="2400" dirty="0">
                <a:latin typeface="Times New Roman" panose="02020603050405020304" pitchFamily="18" charset="0"/>
                <a:ea typeface="Times New Roman" panose="02020603050405020304" pitchFamily="18" charset="0"/>
              </a:rPr>
              <a:t>3. Harmonic Mean (H.M.)</a:t>
            </a:r>
          </a:p>
          <a:p>
            <a:pPr algn="just"/>
            <a:r>
              <a:rPr lang="en-US" sz="2400" dirty="0">
                <a:latin typeface="Times New Roman" panose="02020603050405020304" pitchFamily="18" charset="0"/>
                <a:ea typeface="Times New Roman" panose="02020603050405020304" pitchFamily="18" charset="0"/>
              </a:rPr>
              <a:t>4. Median (Me)</a:t>
            </a:r>
          </a:p>
          <a:p>
            <a:pPr algn="just"/>
            <a:r>
              <a:rPr lang="en-US" sz="2400" dirty="0">
                <a:latin typeface="Times New Roman" panose="02020603050405020304" pitchFamily="18" charset="0"/>
                <a:ea typeface="Times New Roman" panose="02020603050405020304" pitchFamily="18" charset="0"/>
              </a:rPr>
              <a:t>5. Mode (Mo)</a:t>
            </a:r>
            <a:endParaRPr lang="en-US"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87142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2"/>
          <p:cNvSpPr>
            <a:spLocks noChangeArrowheads="1"/>
          </p:cNvSpPr>
          <p:nvPr/>
        </p:nvSpPr>
        <p:spPr bwMode="auto">
          <a:xfrm>
            <a:off x="530878" y="-172252"/>
            <a:ext cx="785112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Arithmetic mean/ Average/Mean:</a:t>
            </a:r>
            <a:endParaRPr kumimoji="0" 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sz="2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Arithmetic mean of a set of observations is the sum of all observations divided by the total number of observations. It is usually denoted by A.M </a:t>
            </a:r>
          </a:p>
          <a:p>
            <a:pPr lvl="0" eaLnBrk="0" fontAlgn="base" hangingPunct="0">
              <a:spcBef>
                <a:spcPct val="0"/>
              </a:spcBef>
              <a:spcAft>
                <a:spcPct val="0"/>
              </a:spcAft>
            </a:pPr>
            <a:r>
              <a:rPr kumimoji="0" lang="en-US"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Or </a:t>
            </a:r>
            <a:r>
              <a:rPr lang="en-US" dirty="0">
                <a:latin typeface="Times New Roman" panose="02020603050405020304" pitchFamily="18" charset="0"/>
                <a:ea typeface="Times New Roman" panose="02020603050405020304" pitchFamily="18" charset="0"/>
                <a:cs typeface="Times New Roman" panose="02020603050405020304" pitchFamily="18" charset="0"/>
              </a:rPr>
              <a:t>the sum of a set of data divided by the number </a:t>
            </a:r>
            <a:r>
              <a:rPr lang="en-US" dirty="0" smtClean="0">
                <a:latin typeface="Times New Roman" panose="02020603050405020304" pitchFamily="18" charset="0"/>
                <a:ea typeface="Times New Roman" panose="02020603050405020304" pitchFamily="18" charset="0"/>
                <a:cs typeface="Times New Roman" panose="02020603050405020304" pitchFamily="18" charset="0"/>
              </a:rPr>
              <a:t>of data</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endPar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22" name="Object 21"/>
          <p:cNvGraphicFramePr>
            <a:graphicFrameLocks noChangeAspect="1"/>
          </p:cNvGraphicFramePr>
          <p:nvPr>
            <p:extLst>
              <p:ext uri="{D42A27DB-BD31-4B8C-83A1-F6EECF244321}">
                <p14:modId xmlns:p14="http://schemas.microsoft.com/office/powerpoint/2010/main" val="1427285628"/>
              </p:ext>
            </p:extLst>
          </p:nvPr>
        </p:nvGraphicFramePr>
        <p:xfrm>
          <a:off x="-31845" y="979377"/>
          <a:ext cx="141764" cy="45719"/>
        </p:xfrm>
        <a:graphic>
          <a:graphicData uri="http://schemas.openxmlformats.org/presentationml/2006/ole">
            <mc:AlternateContent xmlns:mc="http://schemas.openxmlformats.org/markup-compatibility/2006">
              <mc:Choice xmlns:v="urn:schemas-microsoft-com:vml" Requires="v">
                <p:oleObj spid="_x0000_s2418" name="Equation" r:id="rId3" imgW="177569" imgH="202936" progId="Equation.3">
                  <p:embed/>
                </p:oleObj>
              </mc:Choice>
              <mc:Fallback>
                <p:oleObj name="Equation" r:id="rId3" imgW="177569" imgH="202936" progId="Equation.3">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45" y="979377"/>
                        <a:ext cx="141764" cy="45719"/>
                      </a:xfrm>
                      <a:prstGeom prst="rect">
                        <a:avLst/>
                      </a:prstGeom>
                      <a:noFill/>
                    </p:spPr>
                  </p:pic>
                </p:oleObj>
              </mc:Fallback>
            </mc:AlternateContent>
          </a:graphicData>
        </a:graphic>
      </p:graphicFrame>
      <p:sp>
        <p:nvSpPr>
          <p:cNvPr id="23" name="Rectangle 23"/>
          <p:cNvSpPr>
            <a:spLocks noChangeArrowheads="1"/>
          </p:cNvSpPr>
          <p:nvPr/>
        </p:nvSpPr>
        <p:spPr bwMode="auto">
          <a:xfrm>
            <a:off x="530879" y="2209800"/>
            <a:ext cx="71628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 </a:t>
            </a: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graphicFrame>
        <p:nvGraphicFramePr>
          <p:cNvPr id="25" name="Object 24"/>
          <p:cNvGraphicFramePr>
            <a:graphicFrameLocks noChangeAspect="1"/>
          </p:cNvGraphicFramePr>
          <p:nvPr>
            <p:extLst>
              <p:ext uri="{D42A27DB-BD31-4B8C-83A1-F6EECF244321}">
                <p14:modId xmlns:p14="http://schemas.microsoft.com/office/powerpoint/2010/main" val="2622376684"/>
              </p:ext>
            </p:extLst>
          </p:nvPr>
        </p:nvGraphicFramePr>
        <p:xfrm>
          <a:off x="489936" y="3607132"/>
          <a:ext cx="100556" cy="219075"/>
        </p:xfrm>
        <a:graphic>
          <a:graphicData uri="http://schemas.openxmlformats.org/presentationml/2006/ole">
            <mc:AlternateContent xmlns:mc="http://schemas.openxmlformats.org/markup-compatibility/2006">
              <mc:Choice xmlns:v="urn:schemas-microsoft-com:vml" Requires="v">
                <p:oleObj spid="_x0000_s2419" name="Equation" r:id="rId5" imgW="114151" imgH="215619" progId="Equation.3">
                  <p:embed/>
                </p:oleObj>
              </mc:Choice>
              <mc:Fallback>
                <p:oleObj name="Equation" r:id="rId5" imgW="114151" imgH="215619" progId="Equation.3">
                  <p:embed/>
                  <p:pic>
                    <p:nvPicPr>
                      <p:cNvPr id="0" name="Object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9936" y="3607132"/>
                        <a:ext cx="100556" cy="219075"/>
                      </a:xfrm>
                      <a:prstGeom prst="rect">
                        <a:avLst/>
                      </a:prstGeom>
                      <a:noFill/>
                    </p:spPr>
                  </p:pic>
                </p:oleObj>
              </mc:Fallback>
            </mc:AlternateContent>
          </a:graphicData>
        </a:graphic>
      </p:graphicFrame>
      <p:graphicFrame>
        <p:nvGraphicFramePr>
          <p:cNvPr id="26" name="Object 25"/>
          <p:cNvGraphicFramePr>
            <a:graphicFrameLocks noChangeAspect="1"/>
          </p:cNvGraphicFramePr>
          <p:nvPr>
            <p:extLst>
              <p:ext uri="{D42A27DB-BD31-4B8C-83A1-F6EECF244321}">
                <p14:modId xmlns:p14="http://schemas.microsoft.com/office/powerpoint/2010/main" val="836157252"/>
              </p:ext>
            </p:extLst>
          </p:nvPr>
        </p:nvGraphicFramePr>
        <p:xfrm>
          <a:off x="1475190" y="3286253"/>
          <a:ext cx="4092575" cy="1291165"/>
        </p:xfrm>
        <a:graphic>
          <a:graphicData uri="http://schemas.openxmlformats.org/presentationml/2006/ole">
            <mc:AlternateContent xmlns:mc="http://schemas.openxmlformats.org/markup-compatibility/2006">
              <mc:Choice xmlns:v="urn:schemas-microsoft-com:vml" Requires="v">
                <p:oleObj spid="_x0000_s2420" name="Equation" r:id="rId7" imgW="1193760" imgH="393480" progId="Equation.3">
                  <p:embed/>
                </p:oleObj>
              </mc:Choice>
              <mc:Fallback>
                <p:oleObj name="Equation" r:id="rId7" imgW="1193760" imgH="393480" progId="Equation.3">
                  <p:embed/>
                  <p:pic>
                    <p:nvPicPr>
                      <p:cNvPr id="0" name="Object 31"/>
                      <p:cNvPicPr>
                        <a:picLocks noChangeAspect="1" noChangeArrowheads="1"/>
                      </p:cNvPicPr>
                      <p:nvPr/>
                    </p:nvPicPr>
                    <p:blipFill>
                      <a:blip r:embed="rId8"/>
                      <a:srcRect/>
                      <a:stretch>
                        <a:fillRect/>
                      </a:stretch>
                    </p:blipFill>
                    <p:spPr bwMode="auto">
                      <a:xfrm>
                        <a:off x="1475190" y="3286253"/>
                        <a:ext cx="4092575" cy="1291165"/>
                      </a:xfrm>
                      <a:prstGeom prst="rect">
                        <a:avLst/>
                      </a:prstGeom>
                      <a:noFill/>
                    </p:spPr>
                  </p:pic>
                </p:oleObj>
              </mc:Fallback>
            </mc:AlternateContent>
          </a:graphicData>
        </a:graphic>
      </p:graphicFrame>
      <p:graphicFrame>
        <p:nvGraphicFramePr>
          <p:cNvPr id="27" name="Object 26"/>
          <p:cNvGraphicFramePr>
            <a:graphicFrameLocks noChangeAspect="1"/>
          </p:cNvGraphicFramePr>
          <p:nvPr>
            <p:extLst>
              <p:ext uri="{D42A27DB-BD31-4B8C-83A1-F6EECF244321}">
                <p14:modId xmlns:p14="http://schemas.microsoft.com/office/powerpoint/2010/main" val="1564159601"/>
              </p:ext>
            </p:extLst>
          </p:nvPr>
        </p:nvGraphicFramePr>
        <p:xfrm>
          <a:off x="5553075" y="3263667"/>
          <a:ext cx="677863" cy="979487"/>
        </p:xfrm>
        <a:graphic>
          <a:graphicData uri="http://schemas.openxmlformats.org/presentationml/2006/ole">
            <mc:AlternateContent xmlns:mc="http://schemas.openxmlformats.org/markup-compatibility/2006">
              <mc:Choice xmlns:v="urn:schemas-microsoft-com:vml" Requires="v">
                <p:oleObj spid="_x0000_s2421" name="Equation" r:id="rId9" imgW="368280" imgH="634680" progId="Equation.3">
                  <p:embed/>
                </p:oleObj>
              </mc:Choice>
              <mc:Fallback>
                <p:oleObj name="Equation" r:id="rId9" imgW="368280" imgH="634680" progId="Equation.3">
                  <p:embed/>
                  <p:pic>
                    <p:nvPicPr>
                      <p:cNvPr id="0" name="Object 30"/>
                      <p:cNvPicPr>
                        <a:picLocks noChangeAspect="1" noChangeArrowheads="1"/>
                      </p:cNvPicPr>
                      <p:nvPr/>
                    </p:nvPicPr>
                    <p:blipFill>
                      <a:blip r:embed="rId10"/>
                      <a:srcRect/>
                      <a:stretch>
                        <a:fillRect/>
                      </a:stretch>
                    </p:blipFill>
                    <p:spPr bwMode="auto">
                      <a:xfrm>
                        <a:off x="5553075" y="3263667"/>
                        <a:ext cx="677863" cy="979487"/>
                      </a:xfrm>
                      <a:prstGeom prst="rect">
                        <a:avLst/>
                      </a:prstGeom>
                      <a:noFill/>
                    </p:spPr>
                  </p:pic>
                </p:oleObj>
              </mc:Fallback>
            </mc:AlternateContent>
          </a:graphicData>
        </a:graphic>
      </p:graphicFrame>
      <p:graphicFrame>
        <p:nvGraphicFramePr>
          <p:cNvPr id="30" name="Object 29"/>
          <p:cNvGraphicFramePr>
            <a:graphicFrameLocks noChangeAspect="1"/>
          </p:cNvGraphicFramePr>
          <p:nvPr>
            <p:extLst>
              <p:ext uri="{D42A27DB-BD31-4B8C-83A1-F6EECF244321}">
                <p14:modId xmlns:p14="http://schemas.microsoft.com/office/powerpoint/2010/main" val="2038754092"/>
              </p:ext>
            </p:extLst>
          </p:nvPr>
        </p:nvGraphicFramePr>
        <p:xfrm>
          <a:off x="4345500" y="5454628"/>
          <a:ext cx="1254126" cy="1024838"/>
        </p:xfrm>
        <a:graphic>
          <a:graphicData uri="http://schemas.openxmlformats.org/presentationml/2006/ole">
            <mc:AlternateContent xmlns:mc="http://schemas.openxmlformats.org/markup-compatibility/2006">
              <mc:Choice xmlns:v="urn:schemas-microsoft-com:vml" Requires="v">
                <p:oleObj spid="_x0000_s2422" name="Equation" r:id="rId11" imgW="609480" imgH="838080" progId="Equation.3">
                  <p:embed/>
                </p:oleObj>
              </mc:Choice>
              <mc:Fallback>
                <p:oleObj name="Equation" r:id="rId11" imgW="609480" imgH="838080" progId="Equation.3">
                  <p:embed/>
                  <p:pic>
                    <p:nvPicPr>
                      <p:cNvPr id="0" name="Object 27"/>
                      <p:cNvPicPr>
                        <a:picLocks noChangeAspect="1" noChangeArrowheads="1"/>
                      </p:cNvPicPr>
                      <p:nvPr/>
                    </p:nvPicPr>
                    <p:blipFill>
                      <a:blip r:embed="rId12"/>
                      <a:srcRect/>
                      <a:stretch>
                        <a:fillRect/>
                      </a:stretch>
                    </p:blipFill>
                    <p:spPr bwMode="auto">
                      <a:xfrm>
                        <a:off x="4345500" y="5454628"/>
                        <a:ext cx="1254126" cy="1024838"/>
                      </a:xfrm>
                      <a:prstGeom prst="rect">
                        <a:avLst/>
                      </a:prstGeom>
                      <a:noFill/>
                    </p:spPr>
                  </p:pic>
                </p:oleObj>
              </mc:Fallback>
            </mc:AlternateContent>
          </a:graphicData>
        </a:graphic>
      </p:graphicFrame>
      <p:sp>
        <p:nvSpPr>
          <p:cNvPr id="31" name="Rectangle 34"/>
          <p:cNvSpPr>
            <a:spLocks noChangeArrowheads="1"/>
          </p:cNvSpPr>
          <p:nvPr/>
        </p:nvSpPr>
        <p:spPr bwMode="auto">
          <a:xfrm>
            <a:off x="649150" y="2540425"/>
            <a:ext cx="746548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For ungroup data,</a:t>
            </a:r>
            <a:r>
              <a:rPr kumimoji="0" lang="en-US"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let </a:t>
            </a:r>
            <a:r>
              <a:rPr kumimoji="0" lang="en-US"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x</a:t>
            </a:r>
            <a:r>
              <a:rPr kumimoji="0" lang="en-US" b="0" i="1" u="none" strike="noStrike" cap="none" normalizeH="0" baseline="-2500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a:t>
            </a:r>
            <a:r>
              <a:rPr kumimoji="0" lang="en-US"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,x</a:t>
            </a:r>
            <a:r>
              <a:rPr kumimoji="0" lang="en-US" b="0" i="1" u="none" strike="noStrike" cap="none" normalizeH="0" baseline="-2500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r>
              <a:rPr kumimoji="0" lang="en-US"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,x</a:t>
            </a:r>
            <a:r>
              <a:rPr kumimoji="0" lang="en-US" b="0" i="1" u="none" strike="noStrike" cap="none" normalizeH="0" baseline="-2500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r>
              <a:rPr kumimoji="0" lang="en-US"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en-US"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 …,</a:t>
            </a:r>
            <a:r>
              <a:rPr kumimoji="0" lang="en-US"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x</a:t>
            </a:r>
            <a:r>
              <a:rPr kumimoji="0" lang="en-US" b="0" i="1" u="none" strike="noStrike" cap="none" normalizeH="0" baseline="-2500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n</a:t>
            </a:r>
            <a:r>
              <a:rPr kumimoji="0" lang="en-US"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be the series of n observations in any statistical investigation. Then their arithmetic mean  </a:t>
            </a:r>
            <a:endPar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32" name="Rectangle 35"/>
          <p:cNvSpPr>
            <a:spLocks noChangeArrowheads="1"/>
          </p:cNvSpPr>
          <p:nvPr/>
        </p:nvSpPr>
        <p:spPr bwMode="auto">
          <a:xfrm>
            <a:off x="649150" y="3537259"/>
            <a:ext cx="80444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 </a:t>
            </a: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33" name="Rectangle 36"/>
          <p:cNvSpPr>
            <a:spLocks noChangeArrowheads="1"/>
          </p:cNvSpPr>
          <p:nvPr/>
        </p:nvSpPr>
        <p:spPr bwMode="auto">
          <a:xfrm>
            <a:off x="489935" y="3826207"/>
            <a:ext cx="804446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4" name="Rectangle 37"/>
          <p:cNvSpPr>
            <a:spLocks noChangeArrowheads="1"/>
          </p:cNvSpPr>
          <p:nvPr/>
        </p:nvSpPr>
        <p:spPr bwMode="auto">
          <a:xfrm>
            <a:off x="244967" y="4082219"/>
            <a:ext cx="80444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     </a:t>
            </a: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graphicFrame>
        <p:nvGraphicFramePr>
          <p:cNvPr id="38" name="Object 37"/>
          <p:cNvGraphicFramePr>
            <a:graphicFrameLocks noChangeAspect="1"/>
          </p:cNvGraphicFramePr>
          <p:nvPr>
            <p:extLst>
              <p:ext uri="{D42A27DB-BD31-4B8C-83A1-F6EECF244321}">
                <p14:modId xmlns:p14="http://schemas.microsoft.com/office/powerpoint/2010/main" val="1126790653"/>
              </p:ext>
            </p:extLst>
          </p:nvPr>
        </p:nvGraphicFramePr>
        <p:xfrm>
          <a:off x="1071932" y="3687192"/>
          <a:ext cx="344600" cy="393403"/>
        </p:xfrm>
        <a:graphic>
          <a:graphicData uri="http://schemas.openxmlformats.org/presentationml/2006/ole">
            <mc:AlternateContent xmlns:mc="http://schemas.openxmlformats.org/markup-compatibility/2006">
              <mc:Choice xmlns:v="urn:schemas-microsoft-com:vml" Requires="v">
                <p:oleObj spid="_x0000_s2423" name="Equation" r:id="rId13" imgW="177569" imgH="202936" progId="Equation.3">
                  <p:embed/>
                </p:oleObj>
              </mc:Choice>
              <mc:Fallback>
                <p:oleObj name="Equation" r:id="rId13" imgW="177569" imgH="202936"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71932" y="3687192"/>
                        <a:ext cx="344600" cy="393403"/>
                      </a:xfrm>
                      <a:prstGeom prst="rect">
                        <a:avLst/>
                      </a:prstGeom>
                      <a:noFill/>
                    </p:spPr>
                  </p:pic>
                </p:oleObj>
              </mc:Fallback>
            </mc:AlternateContent>
          </a:graphicData>
        </a:graphic>
      </p:graphicFrame>
      <p:graphicFrame>
        <p:nvGraphicFramePr>
          <p:cNvPr id="39" name="Object 38"/>
          <p:cNvGraphicFramePr>
            <a:graphicFrameLocks noChangeAspect="1"/>
          </p:cNvGraphicFramePr>
          <p:nvPr>
            <p:extLst>
              <p:ext uri="{D42A27DB-BD31-4B8C-83A1-F6EECF244321}">
                <p14:modId xmlns:p14="http://schemas.microsoft.com/office/powerpoint/2010/main" val="3401798672"/>
              </p:ext>
            </p:extLst>
          </p:nvPr>
        </p:nvGraphicFramePr>
        <p:xfrm>
          <a:off x="1760616" y="5567518"/>
          <a:ext cx="2351663" cy="799059"/>
        </p:xfrm>
        <a:graphic>
          <a:graphicData uri="http://schemas.openxmlformats.org/presentationml/2006/ole">
            <mc:AlternateContent xmlns:mc="http://schemas.openxmlformats.org/markup-compatibility/2006">
              <mc:Choice xmlns:v="urn:schemas-microsoft-com:vml" Requires="v">
                <p:oleObj spid="_x0000_s2424" name="Equation" r:id="rId15" imgW="1752600" imgH="444500" progId="Equation.3">
                  <p:embed/>
                </p:oleObj>
              </mc:Choice>
              <mc:Fallback>
                <p:oleObj name="Equation" r:id="rId15" imgW="1752600" imgH="4445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60616" y="5567518"/>
                        <a:ext cx="2351663" cy="799059"/>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40" name="Rectangle 39"/>
              <p:cNvSpPr/>
              <p:nvPr/>
            </p:nvSpPr>
            <p:spPr>
              <a:xfrm rot="10800000" flipV="1">
                <a:off x="244967" y="4489520"/>
                <a:ext cx="8044466" cy="947695"/>
              </a:xfrm>
              <a:prstGeom prst="rect">
                <a:avLst/>
              </a:prstGeom>
            </p:spPr>
            <p:txBody>
              <a:bodyPr wrap="square">
                <a:spAutoFit/>
              </a:bodyPr>
              <a:lstStyle/>
              <a:p>
                <a:pPr algn="just"/>
                <a:endParaRPr lang="en-US" b="1" dirty="0" smtClean="0">
                  <a:latin typeface="Times New Roman" panose="02020603050405020304" pitchFamily="18" charset="0"/>
                  <a:ea typeface="Times New Roman" panose="02020603050405020304" pitchFamily="18" charset="0"/>
                </a:endParaRPr>
              </a:p>
              <a:p>
                <a:pPr algn="just"/>
                <a:r>
                  <a:rPr lang="en-US" b="1" dirty="0" smtClean="0">
                    <a:latin typeface="Times New Roman" panose="02020603050405020304" pitchFamily="18" charset="0"/>
                    <a:ea typeface="Times New Roman" panose="02020603050405020304" pitchFamily="18" charset="0"/>
                  </a:rPr>
                  <a:t>For </a:t>
                </a:r>
                <a:r>
                  <a:rPr lang="en-US" b="1" dirty="0">
                    <a:latin typeface="Times New Roman" panose="02020603050405020304" pitchFamily="18" charset="0"/>
                    <a:ea typeface="Times New Roman" panose="02020603050405020304" pitchFamily="18" charset="0"/>
                  </a:rPr>
                  <a:t>group data,</a:t>
                </a:r>
                <a:r>
                  <a:rPr lang="en-US" dirty="0">
                    <a:effectLst/>
                    <a:latin typeface="Times New Roman" panose="02020603050405020304" pitchFamily="18" charset="0"/>
                    <a:ea typeface="Times New Roman" panose="02020603050405020304" pitchFamily="18" charset="0"/>
                  </a:rPr>
                  <a:t> let </a:t>
                </a:r>
                <a14:m>
                  <m:oMath xmlns:m="http://schemas.openxmlformats.org/officeDocument/2006/math">
                    <m:sSub>
                      <m:sSubPr>
                        <m:ctrlPr>
                          <a:rPr lang="en-US" i="1">
                            <a:effectLst/>
                            <a:latin typeface="Cambria Math" panose="02040503050406030204" pitchFamily="18" charset="0"/>
                            <a:ea typeface="Times New Roman" panose="02020603050405020304" pitchFamily="18" charset="0"/>
                          </a:rPr>
                        </m:ctrlPr>
                      </m:sSubPr>
                      <m:e>
                        <m:r>
                          <a:rPr lang="en-US" i="1">
                            <a:effectLst/>
                            <a:latin typeface="Cambria Math" panose="02040503050406030204" pitchFamily="18" charset="0"/>
                            <a:ea typeface="Times New Roman" panose="02020603050405020304" pitchFamily="18" charset="0"/>
                          </a:rPr>
                          <m:t>𝑥</m:t>
                        </m:r>
                      </m:e>
                      <m:sub>
                        <m:r>
                          <a:rPr lang="en-US" i="1">
                            <a:effectLst/>
                            <a:latin typeface="Cambria Math" panose="02040503050406030204" pitchFamily="18" charset="0"/>
                            <a:ea typeface="Times New Roman" panose="02020603050405020304" pitchFamily="18" charset="0"/>
                          </a:rPr>
                          <m:t>1,</m:t>
                        </m:r>
                      </m:sub>
                    </m:sSub>
                    <m:sSub>
                      <m:sSubPr>
                        <m:ctrlPr>
                          <a:rPr lang="en-US" i="1">
                            <a:effectLst/>
                            <a:latin typeface="Cambria Math" panose="02040503050406030204" pitchFamily="18" charset="0"/>
                            <a:ea typeface="Times New Roman" panose="02020603050405020304" pitchFamily="18" charset="0"/>
                          </a:rPr>
                        </m:ctrlPr>
                      </m:sSubPr>
                      <m:e>
                        <m:r>
                          <a:rPr lang="en-US" i="1">
                            <a:effectLst/>
                            <a:latin typeface="Cambria Math" panose="02040503050406030204" pitchFamily="18" charset="0"/>
                            <a:ea typeface="Times New Roman" panose="02020603050405020304" pitchFamily="18" charset="0"/>
                          </a:rPr>
                          <m:t>𝑥</m:t>
                        </m:r>
                      </m:e>
                      <m:sub>
                        <m:r>
                          <a:rPr lang="en-US" i="1">
                            <a:effectLst/>
                            <a:latin typeface="Cambria Math" panose="02040503050406030204" pitchFamily="18" charset="0"/>
                            <a:ea typeface="Times New Roman" panose="02020603050405020304" pitchFamily="18" charset="0"/>
                          </a:rPr>
                          <m:t>2,</m:t>
                        </m:r>
                      </m:sub>
                    </m:sSub>
                    <m:sSub>
                      <m:sSubPr>
                        <m:ctrlPr>
                          <a:rPr lang="en-US" i="1">
                            <a:effectLst/>
                            <a:latin typeface="Cambria Math" panose="02040503050406030204" pitchFamily="18" charset="0"/>
                            <a:ea typeface="Times New Roman" panose="02020603050405020304" pitchFamily="18" charset="0"/>
                          </a:rPr>
                        </m:ctrlPr>
                      </m:sSubPr>
                      <m:e>
                        <m:r>
                          <a:rPr lang="en-US" i="1">
                            <a:effectLst/>
                            <a:latin typeface="Cambria Math" panose="02040503050406030204" pitchFamily="18" charset="0"/>
                            <a:ea typeface="Times New Roman" panose="02020603050405020304" pitchFamily="18" charset="0"/>
                          </a:rPr>
                          <m:t>𝑥</m:t>
                        </m:r>
                      </m:e>
                      <m:sub>
                        <m:r>
                          <a:rPr lang="en-US" i="1">
                            <a:effectLst/>
                            <a:latin typeface="Cambria Math" panose="02040503050406030204" pitchFamily="18" charset="0"/>
                            <a:ea typeface="Times New Roman" panose="02020603050405020304" pitchFamily="18" charset="0"/>
                          </a:rPr>
                          <m:t>3,</m:t>
                        </m:r>
                      </m:sub>
                    </m:sSub>
                  </m:oMath>
                </a14:m>
                <a:r>
                  <a:rPr lang="en-US" dirty="0">
                    <a:effectLst/>
                    <a:latin typeface="Times New Roman" panose="02020603050405020304" pitchFamily="18" charset="0"/>
                    <a:ea typeface="Times New Roman" panose="02020603050405020304" pitchFamily="18" charset="0"/>
                  </a:rPr>
                  <a:t>… … …,</a:t>
                </a:r>
                <a14:m>
                  <m:oMath xmlns:m="http://schemas.openxmlformats.org/officeDocument/2006/math">
                    <m:sSub>
                      <m:sSubPr>
                        <m:ctrlPr>
                          <a:rPr lang="en-US" i="1">
                            <a:effectLst/>
                            <a:latin typeface="Cambria Math" panose="02040503050406030204" pitchFamily="18" charset="0"/>
                            <a:ea typeface="Times New Roman" panose="02020603050405020304" pitchFamily="18" charset="0"/>
                          </a:rPr>
                        </m:ctrlPr>
                      </m:sSubPr>
                      <m:e>
                        <m:r>
                          <a:rPr lang="en-US" i="1">
                            <a:effectLst/>
                            <a:latin typeface="Cambria Math" panose="02040503050406030204" pitchFamily="18" charset="0"/>
                            <a:ea typeface="Times New Roman" panose="02020603050405020304" pitchFamily="18" charset="0"/>
                          </a:rPr>
                          <m:t>𝑥</m:t>
                        </m:r>
                      </m:e>
                      <m:sub>
                        <m:r>
                          <a:rPr lang="en-US" i="1">
                            <a:effectLst/>
                            <a:latin typeface="Cambria Math" panose="02040503050406030204" pitchFamily="18" charset="0"/>
                            <a:ea typeface="Times New Roman" panose="02020603050405020304" pitchFamily="18" charset="0"/>
                          </a:rPr>
                          <m:t>𝑛</m:t>
                        </m:r>
                      </m:sub>
                    </m:sSub>
                  </m:oMath>
                </a14:m>
                <a:r>
                  <a:rPr lang="en-US" dirty="0">
                    <a:effectLst/>
                    <a:latin typeface="Times New Roman" panose="02020603050405020304" pitchFamily="18" charset="0"/>
                    <a:ea typeface="Times New Roman" panose="02020603050405020304" pitchFamily="18" charset="0"/>
                  </a:rPr>
                  <a:t> be the series of n observations in any statistical investigation and </a:t>
                </a:r>
                <a14:m>
                  <m:oMath xmlns:m="http://schemas.openxmlformats.org/officeDocument/2006/math">
                    <m:sSub>
                      <m:sSubPr>
                        <m:ctrlPr>
                          <a:rPr lang="en-US" i="1">
                            <a:effectLst/>
                            <a:latin typeface="Cambria Math" panose="02040503050406030204" pitchFamily="18" charset="0"/>
                            <a:ea typeface="Times New Roman" panose="02020603050405020304" pitchFamily="18" charset="0"/>
                          </a:rPr>
                        </m:ctrlPr>
                      </m:sSubPr>
                      <m:e>
                        <m:r>
                          <a:rPr lang="en-US" i="1">
                            <a:effectLst/>
                            <a:latin typeface="Cambria Math" panose="02040503050406030204" pitchFamily="18" charset="0"/>
                            <a:ea typeface="Times New Roman" panose="02020603050405020304" pitchFamily="18" charset="0"/>
                          </a:rPr>
                          <m:t>𝑓</m:t>
                        </m:r>
                      </m:e>
                      <m:sub>
                        <m:r>
                          <a:rPr lang="en-US" i="1">
                            <a:effectLst/>
                            <a:latin typeface="Cambria Math" panose="02040503050406030204" pitchFamily="18" charset="0"/>
                            <a:ea typeface="Times New Roman" panose="02020603050405020304" pitchFamily="18" charset="0"/>
                          </a:rPr>
                          <m:t>1,</m:t>
                        </m:r>
                      </m:sub>
                    </m:sSub>
                    <m:sSub>
                      <m:sSubPr>
                        <m:ctrlPr>
                          <a:rPr lang="en-US" i="1">
                            <a:effectLst/>
                            <a:latin typeface="Cambria Math" panose="02040503050406030204" pitchFamily="18" charset="0"/>
                            <a:ea typeface="Times New Roman" panose="02020603050405020304" pitchFamily="18" charset="0"/>
                          </a:rPr>
                        </m:ctrlPr>
                      </m:sSubPr>
                      <m:e>
                        <m:r>
                          <a:rPr lang="en-US" i="1">
                            <a:effectLst/>
                            <a:latin typeface="Cambria Math" panose="02040503050406030204" pitchFamily="18" charset="0"/>
                            <a:ea typeface="Times New Roman" panose="02020603050405020304" pitchFamily="18" charset="0"/>
                          </a:rPr>
                          <m:t>𝑓</m:t>
                        </m:r>
                      </m:e>
                      <m:sub>
                        <m:r>
                          <a:rPr lang="en-US" i="1">
                            <a:effectLst/>
                            <a:latin typeface="Cambria Math" panose="02040503050406030204" pitchFamily="18" charset="0"/>
                            <a:ea typeface="Times New Roman" panose="02020603050405020304" pitchFamily="18" charset="0"/>
                          </a:rPr>
                          <m:t>2,</m:t>
                        </m:r>
                      </m:sub>
                    </m:sSub>
                    <m:sSub>
                      <m:sSubPr>
                        <m:ctrlPr>
                          <a:rPr lang="en-US" i="1">
                            <a:effectLst/>
                            <a:latin typeface="Cambria Math" panose="02040503050406030204" pitchFamily="18" charset="0"/>
                            <a:ea typeface="Times New Roman" panose="02020603050405020304" pitchFamily="18" charset="0"/>
                          </a:rPr>
                        </m:ctrlPr>
                      </m:sSubPr>
                      <m:e>
                        <m:r>
                          <a:rPr lang="en-US" i="1">
                            <a:effectLst/>
                            <a:latin typeface="Cambria Math" panose="02040503050406030204" pitchFamily="18" charset="0"/>
                            <a:ea typeface="Times New Roman" panose="02020603050405020304" pitchFamily="18" charset="0"/>
                          </a:rPr>
                          <m:t>𝑓</m:t>
                        </m:r>
                      </m:e>
                      <m:sub>
                        <m:r>
                          <a:rPr lang="en-US" i="1">
                            <a:effectLst/>
                            <a:latin typeface="Cambria Math" panose="02040503050406030204" pitchFamily="18" charset="0"/>
                            <a:ea typeface="Times New Roman" panose="02020603050405020304" pitchFamily="18" charset="0"/>
                          </a:rPr>
                          <m:t>3,</m:t>
                        </m:r>
                      </m:sub>
                    </m:sSub>
                  </m:oMath>
                </a14:m>
                <a:r>
                  <a:rPr lang="en-US" dirty="0">
                    <a:effectLst/>
                    <a:latin typeface="Times New Roman" panose="02020603050405020304" pitchFamily="18" charset="0"/>
                    <a:ea typeface="Times New Roman" panose="02020603050405020304" pitchFamily="18" charset="0"/>
                  </a:rPr>
                  <a:t>… … …,</a:t>
                </a:r>
                <a14:m>
                  <m:oMath xmlns:m="http://schemas.openxmlformats.org/officeDocument/2006/math">
                    <m:sSub>
                      <m:sSubPr>
                        <m:ctrlPr>
                          <a:rPr lang="en-US" i="1">
                            <a:effectLst/>
                            <a:latin typeface="Cambria Math" panose="02040503050406030204" pitchFamily="18" charset="0"/>
                            <a:ea typeface="Times New Roman" panose="02020603050405020304" pitchFamily="18" charset="0"/>
                          </a:rPr>
                        </m:ctrlPr>
                      </m:sSubPr>
                      <m:e>
                        <m:r>
                          <a:rPr lang="en-US" i="1">
                            <a:effectLst/>
                            <a:latin typeface="Cambria Math" panose="02040503050406030204" pitchFamily="18" charset="0"/>
                            <a:ea typeface="Times New Roman" panose="02020603050405020304" pitchFamily="18" charset="0"/>
                          </a:rPr>
                          <m:t>𝑓</m:t>
                        </m:r>
                      </m:e>
                      <m:sub>
                        <m:r>
                          <a:rPr lang="en-US" i="1">
                            <a:effectLst/>
                            <a:latin typeface="Cambria Math" panose="02040503050406030204" pitchFamily="18" charset="0"/>
                            <a:ea typeface="Times New Roman" panose="02020603050405020304" pitchFamily="18" charset="0"/>
                          </a:rPr>
                          <m:t>𝑛</m:t>
                        </m:r>
                      </m:sub>
                    </m:sSub>
                  </m:oMath>
                </a14:m>
                <a:r>
                  <a:rPr lang="en-US" dirty="0">
                    <a:effectLst/>
                    <a:latin typeface="Times New Roman" panose="02020603050405020304" pitchFamily="18" charset="0"/>
                    <a:ea typeface="Times New Roman" panose="02020603050405020304" pitchFamily="18" charset="0"/>
                  </a:rPr>
                  <a:t> be their corresponding frequencies.</a:t>
                </a:r>
              </a:p>
            </p:txBody>
          </p:sp>
        </mc:Choice>
        <mc:Fallback xmlns="">
          <p:sp>
            <p:nvSpPr>
              <p:cNvPr id="40" name="Rectangle 39"/>
              <p:cNvSpPr>
                <a:spLocks noRot="1" noChangeAspect="1" noMove="1" noResize="1" noEditPoints="1" noAdjustHandles="1" noChangeArrowheads="1" noChangeShapeType="1" noTextEdit="1"/>
              </p:cNvSpPr>
              <p:nvPr/>
            </p:nvSpPr>
            <p:spPr>
              <a:xfrm rot="10800000" flipV="1">
                <a:off x="244967" y="4489520"/>
                <a:ext cx="8044466" cy="947695"/>
              </a:xfrm>
              <a:prstGeom prst="rect">
                <a:avLst/>
              </a:prstGeom>
              <a:blipFill rotWithShape="0">
                <a:blip r:embed="rId17"/>
                <a:stretch>
                  <a:fillRect l="-606" r="-682" b="-7692"/>
                </a:stretch>
              </a:blipFill>
            </p:spPr>
            <p:txBody>
              <a:bodyPr/>
              <a:lstStyle/>
              <a:p>
                <a:r>
                  <a:rPr lang="en-US">
                    <a:noFill/>
                  </a:rPr>
                  <a:t> </a:t>
                </a:r>
              </a:p>
            </p:txBody>
          </p:sp>
        </mc:Fallback>
      </mc:AlternateContent>
    </p:spTree>
    <p:extLst>
      <p:ext uri="{BB962C8B-B14F-4D97-AF65-F5344CB8AC3E}">
        <p14:creationId xmlns:p14="http://schemas.microsoft.com/office/powerpoint/2010/main" val="28506418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28600"/>
            <a:ext cx="8077200" cy="617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040168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457200" y="685800"/>
            <a:ext cx="8001000" cy="1015663"/>
          </a:xfrm>
          <a:prstGeom prst="rect">
            <a:avLst/>
          </a:prstGeom>
        </p:spPr>
        <p:txBody>
          <a:bodyPr wrap="square">
            <a:spAutoFit/>
          </a:bodyPr>
          <a:lstStyle/>
          <a:p>
            <a:r>
              <a:rPr lang="en-US" sz="2000" b="1" dirty="0">
                <a:latin typeface="Times New Roman" panose="02020603050405020304" pitchFamily="18" charset="0"/>
                <a:ea typeface="Times New Roman" panose="02020603050405020304" pitchFamily="18" charset="0"/>
              </a:rPr>
              <a:t>Practice-1: </a:t>
            </a:r>
            <a:r>
              <a:rPr lang="en-US" sz="2000" dirty="0">
                <a:latin typeface="Times New Roman" panose="02020603050405020304" pitchFamily="18" charset="0"/>
                <a:ea typeface="Times New Roman" panose="02020603050405020304" pitchFamily="18" charset="0"/>
              </a:rPr>
              <a:t>Find the mean from the data:  20, 37, 32, 39, 33, 34, 32</a:t>
            </a:r>
          </a:p>
          <a:p>
            <a:r>
              <a:rPr lang="en-US" sz="2000" b="1" dirty="0">
                <a:latin typeface="Times New Roman" panose="02020603050405020304" pitchFamily="18" charset="0"/>
                <a:ea typeface="Times New Roman" panose="02020603050405020304" pitchFamily="18" charset="0"/>
              </a:rPr>
              <a:t>Practice-2: </a:t>
            </a:r>
            <a:r>
              <a:rPr lang="en-US" sz="2000" dirty="0">
                <a:latin typeface="Times New Roman" panose="02020603050405020304" pitchFamily="18" charset="0"/>
                <a:ea typeface="Times New Roman" panose="02020603050405020304" pitchFamily="18" charset="0"/>
              </a:rPr>
              <a:t>Find the mean from the data:  20.5, 37.5, 32.6, 39.9, 33.7, 34, </a:t>
            </a:r>
            <a:r>
              <a:rPr lang="en-US" sz="2000" dirty="0" smtClean="0">
                <a:latin typeface="Times New Roman" panose="02020603050405020304" pitchFamily="18" charset="0"/>
                <a:ea typeface="Times New Roman" panose="02020603050405020304" pitchFamily="18" charset="0"/>
              </a:rPr>
              <a:t>32</a:t>
            </a:r>
            <a:endParaRPr lang="en-US" sz="2000" dirty="0">
              <a:latin typeface="Times New Roman" panose="02020603050405020304" pitchFamily="18" charset="0"/>
              <a:ea typeface="Times New Roman" panose="02020603050405020304" pitchFamily="18" charset="0"/>
            </a:endParaRPr>
          </a:p>
          <a:p>
            <a:r>
              <a:rPr lang="en-US" sz="2000" b="1" dirty="0">
                <a:latin typeface="Times New Roman" panose="02020603050405020304" pitchFamily="18" charset="0"/>
                <a:ea typeface="Times New Roman" panose="02020603050405020304" pitchFamily="18" charset="0"/>
              </a:rPr>
              <a:t>Practice-3: </a:t>
            </a:r>
            <a:r>
              <a:rPr lang="en-US" sz="2000" dirty="0">
                <a:latin typeface="Times New Roman" panose="02020603050405020304" pitchFamily="18" charset="0"/>
                <a:ea typeface="Times New Roman" panose="02020603050405020304" pitchFamily="18" charset="0"/>
              </a:rPr>
              <a:t>Find the mean from the data:  2, 7, -5, -7, 3.5, 4.7, 11</a:t>
            </a:r>
            <a:endParaRPr lang="en-US" sz="2000" dirty="0">
              <a:effectLst/>
              <a:latin typeface="Times New Roman" panose="02020603050405020304" pitchFamily="18" charset="0"/>
              <a:ea typeface="Times New Roman" panose="02020603050405020304"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3723441096"/>
              </p:ext>
            </p:extLst>
          </p:nvPr>
        </p:nvGraphicFramePr>
        <p:xfrm>
          <a:off x="1219200" y="1828801"/>
          <a:ext cx="6096000" cy="1484970"/>
        </p:xfrm>
        <a:graphic>
          <a:graphicData uri="http://schemas.openxmlformats.org/drawingml/2006/table">
            <a:tbl>
              <a:tblPr firstRow="1" firstCol="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267630">
                <a:tc>
                  <a:txBody>
                    <a:bodyPr/>
                    <a:lstStyle/>
                    <a:p>
                      <a:pPr marL="0" marR="0" algn="ctr">
                        <a:spcBef>
                          <a:spcPts val="0"/>
                        </a:spcBef>
                        <a:spcAft>
                          <a:spcPts val="0"/>
                        </a:spcAft>
                      </a:pPr>
                      <a:r>
                        <a:rPr lang="en-US" sz="2000" dirty="0">
                          <a:effectLst/>
                        </a:rPr>
                        <a:t>For ungroup data</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000" dirty="0">
                          <a:effectLst/>
                        </a:rPr>
                        <a:t>For group data</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1180170">
                <a:tc>
                  <a:txBody>
                    <a:bodyPr/>
                    <a:lstStyle/>
                    <a:p>
                      <a:pPr marL="0" marR="0">
                        <a:spcBef>
                          <a:spcPts val="0"/>
                        </a:spcBef>
                        <a:spcAft>
                          <a:spcPts val="0"/>
                        </a:spcAft>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bl>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779723086"/>
              </p:ext>
            </p:extLst>
          </p:nvPr>
        </p:nvGraphicFramePr>
        <p:xfrm>
          <a:off x="1905000" y="2209800"/>
          <a:ext cx="1981200" cy="1050878"/>
        </p:xfrm>
        <a:graphic>
          <a:graphicData uri="http://schemas.openxmlformats.org/presentationml/2006/ole">
            <mc:AlternateContent xmlns:mc="http://schemas.openxmlformats.org/markup-compatibility/2006">
              <mc:Choice xmlns:v="urn:schemas-microsoft-com:vml" Requires="v">
                <p:oleObj spid="_x0000_s3145" name="Equation" r:id="rId3" imgW="672808" imgH="609336" progId="Equation.3">
                  <p:embed/>
                </p:oleObj>
              </mc:Choice>
              <mc:Fallback>
                <p:oleObj name="Equation" r:id="rId3" imgW="672808" imgH="609336"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2209800"/>
                        <a:ext cx="1981200" cy="1050878"/>
                      </a:xfrm>
                      <a:prstGeom prst="rect">
                        <a:avLst/>
                      </a:prstGeom>
                      <a:noFill/>
                      <a:extLst/>
                    </p:spPr>
                  </p:pic>
                </p:oleObj>
              </mc:Fallback>
            </mc:AlternateContent>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455245801"/>
              </p:ext>
            </p:extLst>
          </p:nvPr>
        </p:nvGraphicFramePr>
        <p:xfrm>
          <a:off x="4800600" y="2133600"/>
          <a:ext cx="1905000" cy="1143000"/>
        </p:xfrm>
        <a:graphic>
          <a:graphicData uri="http://schemas.openxmlformats.org/presentationml/2006/ole">
            <mc:AlternateContent xmlns:mc="http://schemas.openxmlformats.org/markup-compatibility/2006">
              <mc:Choice xmlns:v="urn:schemas-microsoft-com:vml" Requires="v">
                <p:oleObj spid="_x0000_s3146" name="Equation" r:id="rId5" imgW="800100" imgH="838200" progId="Equation.3">
                  <p:embed/>
                </p:oleObj>
              </mc:Choice>
              <mc:Fallback>
                <p:oleObj name="Equation" r:id="rId5" imgW="800100" imgH="8382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600" y="2133600"/>
                        <a:ext cx="1905000" cy="1143000"/>
                      </a:xfrm>
                      <a:prstGeom prst="rect">
                        <a:avLst/>
                      </a:prstGeom>
                      <a:noFill/>
                      <a:extLst/>
                    </p:spPr>
                  </p:pic>
                </p:oleObj>
              </mc:Fallback>
            </mc:AlternateContent>
          </a:graphicData>
        </a:graphic>
      </p:graphicFrame>
      <p:sp>
        <p:nvSpPr>
          <p:cNvPr id="5" name="Rectangle 4"/>
          <p:cNvSpPr/>
          <p:nvPr/>
        </p:nvSpPr>
        <p:spPr>
          <a:xfrm>
            <a:off x="228600" y="3690371"/>
            <a:ext cx="8534400" cy="369332"/>
          </a:xfrm>
          <a:prstGeom prst="rect">
            <a:avLst/>
          </a:prstGeom>
        </p:spPr>
        <p:txBody>
          <a:bodyPr wrap="square">
            <a:spAutoFit/>
          </a:bodyPr>
          <a:lstStyle/>
          <a:p>
            <a:pPr algn="ctr"/>
            <a:r>
              <a:rPr lang="en-US" b="1" kern="1800" dirty="0">
                <a:latin typeface="Times New Roman" panose="02020603050405020304" pitchFamily="18" charset="0"/>
                <a:ea typeface="Times New Roman" panose="02020603050405020304" pitchFamily="18" charset="0"/>
              </a:rPr>
              <a:t>Example-1: Calculate arithmetic mean from the following </a:t>
            </a:r>
            <a:r>
              <a:rPr lang="en-US" b="1" dirty="0">
                <a:latin typeface="Times New Roman" panose="02020603050405020304" pitchFamily="18" charset="0"/>
                <a:ea typeface="Times New Roman" panose="02020603050405020304" pitchFamily="18" charset="0"/>
              </a:rPr>
              <a:t>grouped frequency table:</a:t>
            </a:r>
            <a:endParaRPr lang="en-US" dirty="0">
              <a:effectLst/>
              <a:latin typeface="Times New Roman" panose="02020603050405020304" pitchFamily="18" charset="0"/>
              <a:ea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4187464688"/>
              </p:ext>
            </p:extLst>
          </p:nvPr>
        </p:nvGraphicFramePr>
        <p:xfrm>
          <a:off x="1905000" y="4336700"/>
          <a:ext cx="5029200" cy="1987900"/>
        </p:xfrm>
        <a:graphic>
          <a:graphicData uri="http://schemas.openxmlformats.org/drawingml/2006/table">
            <a:tbl>
              <a:tblPr firstRow="1" firstCol="1" bandRow="1">
                <a:tableStyleId>{5C22544A-7EE6-4342-B048-85BDC9FD1C3A}</a:tableStyleId>
              </a:tblPr>
              <a:tblGrid>
                <a:gridCol w="2638979">
                  <a:extLst>
                    <a:ext uri="{9D8B030D-6E8A-4147-A177-3AD203B41FA5}">
                      <a16:colId xmlns:a16="http://schemas.microsoft.com/office/drawing/2014/main" val="20000"/>
                    </a:ext>
                  </a:extLst>
                </a:gridCol>
                <a:gridCol w="2390221">
                  <a:extLst>
                    <a:ext uri="{9D8B030D-6E8A-4147-A177-3AD203B41FA5}">
                      <a16:colId xmlns:a16="http://schemas.microsoft.com/office/drawing/2014/main" val="20001"/>
                    </a:ext>
                  </a:extLst>
                </a:gridCol>
              </a:tblGrid>
              <a:tr h="397580">
                <a:tc>
                  <a:txBody>
                    <a:bodyPr/>
                    <a:lstStyle/>
                    <a:p>
                      <a:pPr marL="0" marR="0" algn="ctr">
                        <a:spcBef>
                          <a:spcPts val="0"/>
                        </a:spcBef>
                        <a:spcAft>
                          <a:spcPts val="0"/>
                        </a:spcAft>
                      </a:pPr>
                      <a:r>
                        <a:rPr lang="en-US" sz="2000" dirty="0">
                          <a:effectLst/>
                        </a:rPr>
                        <a:t>Number of games</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tc>
                  <a:txBody>
                    <a:bodyPr/>
                    <a:lstStyle/>
                    <a:p>
                      <a:pPr marL="0" marR="0" algn="ctr">
                        <a:spcBef>
                          <a:spcPts val="0"/>
                        </a:spcBef>
                        <a:spcAft>
                          <a:spcPts val="0"/>
                        </a:spcAft>
                      </a:pPr>
                      <a:r>
                        <a:rPr lang="en-US" sz="2000">
                          <a:effectLst/>
                        </a:rPr>
                        <a:t>Frequency</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extLst>
                  <a:ext uri="{0D108BD9-81ED-4DB2-BD59-A6C34878D82A}">
                    <a16:rowId xmlns:a16="http://schemas.microsoft.com/office/drawing/2014/main" val="10000"/>
                  </a:ext>
                </a:extLst>
              </a:tr>
              <a:tr h="397580">
                <a:tc>
                  <a:txBody>
                    <a:bodyPr/>
                    <a:lstStyle/>
                    <a:p>
                      <a:pPr marL="0" marR="0" algn="ctr">
                        <a:spcBef>
                          <a:spcPts val="0"/>
                        </a:spcBef>
                        <a:spcAft>
                          <a:spcPts val="0"/>
                        </a:spcAft>
                      </a:pPr>
                      <a:r>
                        <a:rPr lang="en-US" sz="2000" dirty="0">
                          <a:effectLst/>
                        </a:rPr>
                        <a:t>1 - 5</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tc>
                  <a:txBody>
                    <a:bodyPr/>
                    <a:lstStyle/>
                    <a:p>
                      <a:pPr marL="0" marR="0" algn="ctr">
                        <a:spcBef>
                          <a:spcPts val="0"/>
                        </a:spcBef>
                        <a:spcAft>
                          <a:spcPts val="0"/>
                        </a:spcAft>
                      </a:pPr>
                      <a:r>
                        <a:rPr lang="en-US" sz="2000">
                          <a:effectLst/>
                        </a:rPr>
                        <a:t>2</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extLst>
                  <a:ext uri="{0D108BD9-81ED-4DB2-BD59-A6C34878D82A}">
                    <a16:rowId xmlns:a16="http://schemas.microsoft.com/office/drawing/2014/main" val="10001"/>
                  </a:ext>
                </a:extLst>
              </a:tr>
              <a:tr h="397580">
                <a:tc>
                  <a:txBody>
                    <a:bodyPr/>
                    <a:lstStyle/>
                    <a:p>
                      <a:pPr marL="0" marR="0" algn="ctr">
                        <a:spcBef>
                          <a:spcPts val="0"/>
                        </a:spcBef>
                        <a:spcAft>
                          <a:spcPts val="0"/>
                        </a:spcAft>
                      </a:pPr>
                      <a:r>
                        <a:rPr lang="en-US" sz="2000" dirty="0">
                          <a:effectLst/>
                        </a:rPr>
                        <a:t>6 - 10</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tc>
                  <a:txBody>
                    <a:bodyPr/>
                    <a:lstStyle/>
                    <a:p>
                      <a:pPr marL="0" marR="0" algn="ctr">
                        <a:spcBef>
                          <a:spcPts val="0"/>
                        </a:spcBef>
                        <a:spcAft>
                          <a:spcPts val="0"/>
                        </a:spcAft>
                      </a:pPr>
                      <a:r>
                        <a:rPr lang="en-US" sz="2000">
                          <a:effectLst/>
                        </a:rPr>
                        <a:t>7</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extLst>
                  <a:ext uri="{0D108BD9-81ED-4DB2-BD59-A6C34878D82A}">
                    <a16:rowId xmlns:a16="http://schemas.microsoft.com/office/drawing/2014/main" val="10002"/>
                  </a:ext>
                </a:extLst>
              </a:tr>
              <a:tr h="397580">
                <a:tc>
                  <a:txBody>
                    <a:bodyPr/>
                    <a:lstStyle/>
                    <a:p>
                      <a:pPr marL="0" marR="0" algn="ctr">
                        <a:spcBef>
                          <a:spcPts val="0"/>
                        </a:spcBef>
                        <a:spcAft>
                          <a:spcPts val="0"/>
                        </a:spcAft>
                      </a:pPr>
                      <a:r>
                        <a:rPr lang="en-US" sz="2000" dirty="0">
                          <a:effectLst/>
                        </a:rPr>
                        <a:t>11 - 15</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tc>
                  <a:txBody>
                    <a:bodyPr/>
                    <a:lstStyle/>
                    <a:p>
                      <a:pPr marL="0" marR="0" algn="ctr">
                        <a:spcBef>
                          <a:spcPts val="0"/>
                        </a:spcBef>
                        <a:spcAft>
                          <a:spcPts val="0"/>
                        </a:spcAft>
                      </a:pPr>
                      <a:r>
                        <a:rPr lang="en-US" sz="2000" dirty="0">
                          <a:effectLst/>
                        </a:rPr>
                        <a:t>8</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extLst>
                  <a:ext uri="{0D108BD9-81ED-4DB2-BD59-A6C34878D82A}">
                    <a16:rowId xmlns:a16="http://schemas.microsoft.com/office/drawing/2014/main" val="10003"/>
                  </a:ext>
                </a:extLst>
              </a:tr>
              <a:tr h="397580">
                <a:tc>
                  <a:txBody>
                    <a:bodyPr/>
                    <a:lstStyle/>
                    <a:p>
                      <a:pPr marL="0" marR="0" algn="ctr">
                        <a:spcBef>
                          <a:spcPts val="0"/>
                        </a:spcBef>
                        <a:spcAft>
                          <a:spcPts val="0"/>
                        </a:spcAft>
                      </a:pPr>
                      <a:r>
                        <a:rPr lang="en-US" sz="2000">
                          <a:effectLst/>
                        </a:rPr>
                        <a:t>16 - 20</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tc>
                  <a:txBody>
                    <a:bodyPr/>
                    <a:lstStyle/>
                    <a:p>
                      <a:pPr marL="0" marR="0" algn="ctr">
                        <a:spcBef>
                          <a:spcPts val="0"/>
                        </a:spcBef>
                        <a:spcAft>
                          <a:spcPts val="0"/>
                        </a:spcAft>
                      </a:pPr>
                      <a:r>
                        <a:rPr lang="en-US" sz="2000" dirty="0">
                          <a:effectLst/>
                        </a:rPr>
                        <a:t>3</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599999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43000" y="119575"/>
            <a:ext cx="5638800" cy="369332"/>
          </a:xfrm>
          <a:prstGeom prst="rect">
            <a:avLst/>
          </a:prstGeom>
        </p:spPr>
        <p:txBody>
          <a:bodyPr wrap="square">
            <a:spAutoFit/>
          </a:bodyPr>
          <a:lstStyle/>
          <a:p>
            <a:r>
              <a:rPr lang="en-US" b="1" dirty="0">
                <a:latin typeface="Times New Roman" panose="02020603050405020304" pitchFamily="18" charset="0"/>
                <a:ea typeface="Times New Roman" panose="02020603050405020304" pitchFamily="18" charset="0"/>
              </a:rPr>
              <a:t>Solution: Estimating the mean from Grouped Data</a:t>
            </a:r>
            <a:endParaRPr lang="en-US" dirty="0">
              <a:effectLst/>
              <a:latin typeface="Times New Roman" panose="02020603050405020304" pitchFamily="18" charset="0"/>
              <a:ea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541578871"/>
              </p:ext>
            </p:extLst>
          </p:nvPr>
        </p:nvGraphicFramePr>
        <p:xfrm>
          <a:off x="1066800" y="626326"/>
          <a:ext cx="7315200" cy="3412273"/>
        </p:xfrm>
        <a:graphic>
          <a:graphicData uri="http://schemas.openxmlformats.org/drawingml/2006/table">
            <a:tbl>
              <a:tblPr firstRow="1" firstCol="1" bandRow="1">
                <a:tableStyleId>{5C22544A-7EE6-4342-B048-85BDC9FD1C3A}</a:tableStyleId>
              </a:tblPr>
              <a:tblGrid>
                <a:gridCol w="1800856">
                  <a:extLst>
                    <a:ext uri="{9D8B030D-6E8A-4147-A177-3AD203B41FA5}">
                      <a16:colId xmlns:a16="http://schemas.microsoft.com/office/drawing/2014/main" val="20000"/>
                    </a:ext>
                  </a:extLst>
                </a:gridCol>
                <a:gridCol w="1564881">
                  <a:extLst>
                    <a:ext uri="{9D8B030D-6E8A-4147-A177-3AD203B41FA5}">
                      <a16:colId xmlns:a16="http://schemas.microsoft.com/office/drawing/2014/main" val="20001"/>
                    </a:ext>
                  </a:extLst>
                </a:gridCol>
                <a:gridCol w="1639400">
                  <a:extLst>
                    <a:ext uri="{9D8B030D-6E8A-4147-A177-3AD203B41FA5}">
                      <a16:colId xmlns:a16="http://schemas.microsoft.com/office/drawing/2014/main" val="20002"/>
                    </a:ext>
                  </a:extLst>
                </a:gridCol>
                <a:gridCol w="2310063">
                  <a:extLst>
                    <a:ext uri="{9D8B030D-6E8A-4147-A177-3AD203B41FA5}">
                      <a16:colId xmlns:a16="http://schemas.microsoft.com/office/drawing/2014/main" val="20003"/>
                    </a:ext>
                  </a:extLst>
                </a:gridCol>
              </a:tblGrid>
              <a:tr h="941638">
                <a:tc>
                  <a:txBody>
                    <a:bodyPr/>
                    <a:lstStyle/>
                    <a:p>
                      <a:pPr marL="0" marR="0" algn="ctr">
                        <a:spcBef>
                          <a:spcPts val="0"/>
                        </a:spcBef>
                        <a:spcAft>
                          <a:spcPts val="0"/>
                        </a:spcAft>
                      </a:pPr>
                      <a:r>
                        <a:rPr lang="en-US" sz="2000" dirty="0">
                          <a:effectLst/>
                        </a:rPr>
                        <a:t>Number of games</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tc>
                  <a:txBody>
                    <a:bodyPr/>
                    <a:lstStyle/>
                    <a:p>
                      <a:pPr marL="0" marR="0" algn="ctr">
                        <a:spcBef>
                          <a:spcPts val="0"/>
                        </a:spcBef>
                        <a:spcAft>
                          <a:spcPts val="0"/>
                        </a:spcAft>
                      </a:pPr>
                      <a:r>
                        <a:rPr lang="en-US" sz="2000" dirty="0">
                          <a:effectLst/>
                        </a:rPr>
                        <a:t>Frequency</a:t>
                      </a:r>
                      <a:br>
                        <a:rPr lang="en-US" sz="2000" dirty="0">
                          <a:effectLst/>
                        </a:rPr>
                      </a:br>
                      <a:r>
                        <a:rPr lang="en-US" sz="2000" dirty="0">
                          <a:effectLst/>
                        </a:rPr>
                        <a:t>f</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tc>
                  <a:txBody>
                    <a:bodyPr/>
                    <a:lstStyle/>
                    <a:p>
                      <a:pPr marL="0" marR="0" algn="ctr">
                        <a:spcBef>
                          <a:spcPts val="0"/>
                        </a:spcBef>
                        <a:spcAft>
                          <a:spcPts val="0"/>
                        </a:spcAft>
                      </a:pPr>
                      <a:r>
                        <a:rPr lang="en-US" sz="2000">
                          <a:effectLst/>
                        </a:rPr>
                        <a:t>Midpoint</a:t>
                      </a:r>
                      <a:br>
                        <a:rPr lang="en-US" sz="2000">
                          <a:effectLst/>
                        </a:rPr>
                      </a:br>
                      <a:r>
                        <a:rPr lang="en-US" sz="2000">
                          <a:effectLst/>
                        </a:rPr>
                        <a:t>x</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tc>
                  <a:txBody>
                    <a:bodyPr/>
                    <a:lstStyle/>
                    <a:p>
                      <a:pPr marL="0" marR="0" algn="ctr">
                        <a:spcBef>
                          <a:spcPts val="0"/>
                        </a:spcBef>
                        <a:spcAft>
                          <a:spcPts val="0"/>
                        </a:spcAft>
                      </a:pPr>
                      <a:r>
                        <a:rPr lang="en-US" sz="2000">
                          <a:effectLst/>
                        </a:rPr>
                        <a:t>f</a:t>
                      </a:r>
                      <a:r>
                        <a:rPr lang="en-US" sz="2000" baseline="-25000">
                          <a:effectLst/>
                        </a:rPr>
                        <a:t>i</a:t>
                      </a:r>
                      <a:r>
                        <a:rPr lang="en-US" sz="2000">
                          <a:effectLst/>
                        </a:rPr>
                        <a:t>x</a:t>
                      </a:r>
                      <a:r>
                        <a:rPr lang="en-US" sz="2000" baseline="-25000">
                          <a:effectLst/>
                        </a:rPr>
                        <a:t>i</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extLst>
                  <a:ext uri="{0D108BD9-81ED-4DB2-BD59-A6C34878D82A}">
                    <a16:rowId xmlns:a16="http://schemas.microsoft.com/office/drawing/2014/main" val="10000"/>
                  </a:ext>
                </a:extLst>
              </a:tr>
              <a:tr h="494127">
                <a:tc>
                  <a:txBody>
                    <a:bodyPr/>
                    <a:lstStyle/>
                    <a:p>
                      <a:pPr marL="0" marR="0" algn="ctr">
                        <a:spcBef>
                          <a:spcPts val="0"/>
                        </a:spcBef>
                        <a:spcAft>
                          <a:spcPts val="0"/>
                        </a:spcAft>
                      </a:pPr>
                      <a:r>
                        <a:rPr lang="en-US" sz="2000">
                          <a:effectLst/>
                        </a:rPr>
                        <a:t>1 - 5</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tc>
                  <a:txBody>
                    <a:bodyPr/>
                    <a:lstStyle/>
                    <a:p>
                      <a:pPr marL="0" marR="0" algn="ctr">
                        <a:spcBef>
                          <a:spcPts val="0"/>
                        </a:spcBef>
                        <a:spcAft>
                          <a:spcPts val="0"/>
                        </a:spcAft>
                      </a:pPr>
                      <a:r>
                        <a:rPr lang="en-US" sz="2000" dirty="0">
                          <a:effectLst/>
                        </a:rPr>
                        <a:t>2</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tc>
                  <a:txBody>
                    <a:bodyPr/>
                    <a:lstStyle/>
                    <a:p>
                      <a:pPr marL="0" marR="0" algn="ctr">
                        <a:spcBef>
                          <a:spcPts val="0"/>
                        </a:spcBef>
                        <a:spcAft>
                          <a:spcPts val="0"/>
                        </a:spcAft>
                      </a:pPr>
                      <a:r>
                        <a:rPr lang="en-US" sz="2000" dirty="0">
                          <a:effectLst/>
                        </a:rPr>
                        <a:t>3</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tc>
                  <a:txBody>
                    <a:bodyPr/>
                    <a:lstStyle/>
                    <a:p>
                      <a:pPr marL="0" marR="0" algn="ctr">
                        <a:spcBef>
                          <a:spcPts val="0"/>
                        </a:spcBef>
                        <a:spcAft>
                          <a:spcPts val="0"/>
                        </a:spcAft>
                      </a:pPr>
                      <a:r>
                        <a:rPr lang="en-US" sz="2000">
                          <a:effectLst/>
                        </a:rPr>
                        <a:t>6</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extLst>
                  <a:ext uri="{0D108BD9-81ED-4DB2-BD59-A6C34878D82A}">
                    <a16:rowId xmlns:a16="http://schemas.microsoft.com/office/drawing/2014/main" val="10001"/>
                  </a:ext>
                </a:extLst>
              </a:tr>
              <a:tr h="494127">
                <a:tc>
                  <a:txBody>
                    <a:bodyPr/>
                    <a:lstStyle/>
                    <a:p>
                      <a:pPr marL="0" marR="0" algn="ctr">
                        <a:spcBef>
                          <a:spcPts val="0"/>
                        </a:spcBef>
                        <a:spcAft>
                          <a:spcPts val="0"/>
                        </a:spcAft>
                      </a:pPr>
                      <a:r>
                        <a:rPr lang="en-US" sz="2000">
                          <a:effectLst/>
                        </a:rPr>
                        <a:t>6 - 10</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tc>
                  <a:txBody>
                    <a:bodyPr/>
                    <a:lstStyle/>
                    <a:p>
                      <a:pPr marL="0" marR="0" algn="ctr">
                        <a:spcBef>
                          <a:spcPts val="0"/>
                        </a:spcBef>
                        <a:spcAft>
                          <a:spcPts val="0"/>
                        </a:spcAft>
                      </a:pPr>
                      <a:r>
                        <a:rPr lang="en-US" sz="2000">
                          <a:effectLst/>
                        </a:rPr>
                        <a:t>7</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tc>
                  <a:txBody>
                    <a:bodyPr/>
                    <a:lstStyle/>
                    <a:p>
                      <a:pPr marL="0" marR="0" algn="ctr">
                        <a:spcBef>
                          <a:spcPts val="0"/>
                        </a:spcBef>
                        <a:spcAft>
                          <a:spcPts val="0"/>
                        </a:spcAft>
                      </a:pPr>
                      <a:r>
                        <a:rPr lang="en-US" sz="2000" dirty="0">
                          <a:effectLst/>
                        </a:rPr>
                        <a:t>8</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tc>
                  <a:txBody>
                    <a:bodyPr/>
                    <a:lstStyle/>
                    <a:p>
                      <a:pPr marL="0" marR="0" algn="ctr">
                        <a:spcBef>
                          <a:spcPts val="0"/>
                        </a:spcBef>
                        <a:spcAft>
                          <a:spcPts val="0"/>
                        </a:spcAft>
                      </a:pPr>
                      <a:r>
                        <a:rPr lang="en-US" sz="2000" dirty="0">
                          <a:effectLst/>
                        </a:rPr>
                        <a:t>56</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extLst>
                  <a:ext uri="{0D108BD9-81ED-4DB2-BD59-A6C34878D82A}">
                    <a16:rowId xmlns:a16="http://schemas.microsoft.com/office/drawing/2014/main" val="10002"/>
                  </a:ext>
                </a:extLst>
              </a:tr>
              <a:tr h="494127">
                <a:tc>
                  <a:txBody>
                    <a:bodyPr/>
                    <a:lstStyle/>
                    <a:p>
                      <a:pPr marL="0" marR="0" algn="ctr">
                        <a:spcBef>
                          <a:spcPts val="0"/>
                        </a:spcBef>
                        <a:spcAft>
                          <a:spcPts val="0"/>
                        </a:spcAft>
                      </a:pPr>
                      <a:r>
                        <a:rPr lang="en-US" sz="2000">
                          <a:effectLst/>
                        </a:rPr>
                        <a:t>11 - 15</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tc>
                  <a:txBody>
                    <a:bodyPr/>
                    <a:lstStyle/>
                    <a:p>
                      <a:pPr marL="0" marR="0" algn="ctr">
                        <a:spcBef>
                          <a:spcPts val="0"/>
                        </a:spcBef>
                        <a:spcAft>
                          <a:spcPts val="0"/>
                        </a:spcAft>
                      </a:pPr>
                      <a:r>
                        <a:rPr lang="en-US" sz="2000" dirty="0">
                          <a:effectLst/>
                        </a:rPr>
                        <a:t>8</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tc>
                  <a:txBody>
                    <a:bodyPr/>
                    <a:lstStyle/>
                    <a:p>
                      <a:pPr marL="0" marR="0" algn="ctr">
                        <a:spcBef>
                          <a:spcPts val="0"/>
                        </a:spcBef>
                        <a:spcAft>
                          <a:spcPts val="0"/>
                        </a:spcAft>
                      </a:pPr>
                      <a:r>
                        <a:rPr lang="en-US" sz="2000" dirty="0">
                          <a:effectLst/>
                        </a:rPr>
                        <a:t>13</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tc>
                  <a:txBody>
                    <a:bodyPr/>
                    <a:lstStyle/>
                    <a:p>
                      <a:pPr marL="0" marR="0" algn="ctr">
                        <a:spcBef>
                          <a:spcPts val="0"/>
                        </a:spcBef>
                        <a:spcAft>
                          <a:spcPts val="0"/>
                        </a:spcAft>
                      </a:pPr>
                      <a:r>
                        <a:rPr lang="en-US" sz="2000" dirty="0">
                          <a:effectLst/>
                        </a:rPr>
                        <a:t>104</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extLst>
                  <a:ext uri="{0D108BD9-81ED-4DB2-BD59-A6C34878D82A}">
                    <a16:rowId xmlns:a16="http://schemas.microsoft.com/office/drawing/2014/main" val="10003"/>
                  </a:ext>
                </a:extLst>
              </a:tr>
              <a:tr h="494127">
                <a:tc>
                  <a:txBody>
                    <a:bodyPr/>
                    <a:lstStyle/>
                    <a:p>
                      <a:pPr marL="0" marR="0" algn="ctr">
                        <a:spcBef>
                          <a:spcPts val="0"/>
                        </a:spcBef>
                        <a:spcAft>
                          <a:spcPts val="0"/>
                        </a:spcAft>
                      </a:pPr>
                      <a:r>
                        <a:rPr lang="en-US" sz="2000">
                          <a:effectLst/>
                        </a:rPr>
                        <a:t>16 - 20</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tc>
                  <a:txBody>
                    <a:bodyPr/>
                    <a:lstStyle/>
                    <a:p>
                      <a:pPr marL="0" marR="0" algn="ctr">
                        <a:spcBef>
                          <a:spcPts val="0"/>
                        </a:spcBef>
                        <a:spcAft>
                          <a:spcPts val="0"/>
                        </a:spcAft>
                      </a:pPr>
                      <a:r>
                        <a:rPr lang="en-US" sz="2000">
                          <a:effectLst/>
                        </a:rPr>
                        <a:t>3</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tc>
                  <a:txBody>
                    <a:bodyPr/>
                    <a:lstStyle/>
                    <a:p>
                      <a:pPr marL="0" marR="0" algn="ctr">
                        <a:spcBef>
                          <a:spcPts val="0"/>
                        </a:spcBef>
                        <a:spcAft>
                          <a:spcPts val="0"/>
                        </a:spcAft>
                      </a:pPr>
                      <a:r>
                        <a:rPr lang="en-US" sz="2000">
                          <a:effectLst/>
                        </a:rPr>
                        <a:t>18</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tc>
                  <a:txBody>
                    <a:bodyPr/>
                    <a:lstStyle/>
                    <a:p>
                      <a:pPr marL="0" marR="0" algn="ctr">
                        <a:spcBef>
                          <a:spcPts val="0"/>
                        </a:spcBef>
                        <a:spcAft>
                          <a:spcPts val="0"/>
                        </a:spcAft>
                      </a:pPr>
                      <a:r>
                        <a:rPr lang="en-US" sz="2000" dirty="0">
                          <a:effectLst/>
                        </a:rPr>
                        <a:t>54</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extLst>
                  <a:ext uri="{0D108BD9-81ED-4DB2-BD59-A6C34878D82A}">
                    <a16:rowId xmlns:a16="http://schemas.microsoft.com/office/drawing/2014/main" val="10004"/>
                  </a:ext>
                </a:extLst>
              </a:tr>
              <a:tr h="494127">
                <a:tc>
                  <a:txBody>
                    <a:bodyPr/>
                    <a:lstStyle/>
                    <a:p>
                      <a:pPr marL="0" marR="0" algn="ctr">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tc>
                  <a:txBody>
                    <a:bodyPr/>
                    <a:lstStyle/>
                    <a:p>
                      <a:pPr marL="0" marR="0" algn="ctr">
                        <a:spcBef>
                          <a:spcPts val="0"/>
                        </a:spcBef>
                        <a:spcAft>
                          <a:spcPts val="0"/>
                        </a:spcAft>
                      </a:pP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tc>
                  <a:txBody>
                    <a:bodyPr/>
                    <a:lstStyle/>
                    <a:p>
                      <a:pPr marL="0" marR="0" algn="ctr">
                        <a:spcBef>
                          <a:spcPts val="0"/>
                        </a:spcBef>
                        <a:spcAft>
                          <a:spcPts val="0"/>
                        </a:spcAft>
                      </a:pPr>
                      <a:r>
                        <a:rPr lang="en-US" sz="2000">
                          <a:effectLst/>
                        </a:rPr>
                        <a:t>Totals:</a:t>
                      </a:r>
                      <a:endParaRPr lang="en-US"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tc>
                  <a:txBody>
                    <a:bodyPr/>
                    <a:lstStyle/>
                    <a:p>
                      <a:pPr marL="0" marR="0" algn="ctr">
                        <a:spcBef>
                          <a:spcPts val="0"/>
                        </a:spcBef>
                        <a:spcAft>
                          <a:spcPts val="0"/>
                        </a:spcAft>
                      </a:pP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tc>
                <a:extLst>
                  <a:ext uri="{0D108BD9-81ED-4DB2-BD59-A6C34878D82A}">
                    <a16:rowId xmlns:a16="http://schemas.microsoft.com/office/drawing/2014/main" val="10005"/>
                  </a:ext>
                </a:extLst>
              </a:tr>
            </a:tbl>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1451932726"/>
              </p:ext>
            </p:extLst>
          </p:nvPr>
        </p:nvGraphicFramePr>
        <p:xfrm>
          <a:off x="3286125" y="3657600"/>
          <a:ext cx="676275" cy="257175"/>
        </p:xfrm>
        <a:graphic>
          <a:graphicData uri="http://schemas.openxmlformats.org/presentationml/2006/ole">
            <mc:AlternateContent xmlns:mc="http://schemas.openxmlformats.org/markup-compatibility/2006">
              <mc:Choice xmlns:v="urn:schemas-microsoft-com:vml" Requires="v">
                <p:oleObj spid="_x0000_s4200" name="Equation" r:id="rId3" imgW="672808" imgH="253890" progId="Equation.3">
                  <p:embed/>
                </p:oleObj>
              </mc:Choice>
              <mc:Fallback>
                <p:oleObj name="Equation" r:id="rId3" imgW="672808" imgH="25389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6125" y="3657600"/>
                        <a:ext cx="676275" cy="257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760116246"/>
              </p:ext>
            </p:extLst>
          </p:nvPr>
        </p:nvGraphicFramePr>
        <p:xfrm>
          <a:off x="6629400" y="3657600"/>
          <a:ext cx="914400" cy="257175"/>
        </p:xfrm>
        <a:graphic>
          <a:graphicData uri="http://schemas.openxmlformats.org/presentationml/2006/ole">
            <mc:AlternateContent xmlns:mc="http://schemas.openxmlformats.org/markup-compatibility/2006">
              <mc:Choice xmlns:v="urn:schemas-microsoft-com:vml" Requires="v">
                <p:oleObj spid="_x0000_s4201" name="Equation" r:id="rId5" imgW="914400" imgH="254000" progId="Equation.3">
                  <p:embed/>
                </p:oleObj>
              </mc:Choice>
              <mc:Fallback>
                <p:oleObj name="Equation" r:id="rId5" imgW="914400" imgH="2540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29400" y="3657600"/>
                        <a:ext cx="914400" cy="257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6"/>
          <p:cNvSpPr>
            <a:spLocks noChangeArrowheads="1"/>
          </p:cNvSpPr>
          <p:nvPr/>
        </p:nvSpPr>
        <p:spPr bwMode="auto">
          <a:xfrm>
            <a:off x="321898" y="4722168"/>
            <a:ext cx="40806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We know,              Mean =   </a:t>
            </a:r>
            <a:endParaRPr kumimoji="0" lang="en-US" sz="2400" b="0" i="0" u="none" strike="noStrike" cap="none" normalizeH="0" baseline="0" dirty="0" smtClean="0">
              <a:ln>
                <a:noFill/>
              </a:ln>
              <a:solidFill>
                <a:schemeClr val="tx1"/>
              </a:solidFill>
              <a:effectLst/>
              <a:latin typeface="Arial" panose="020B0604020202020204" pitchFamily="34" charset="0"/>
            </a:endParaRPr>
          </a:p>
        </p:txBody>
      </p:sp>
      <p:graphicFrame>
        <p:nvGraphicFramePr>
          <p:cNvPr id="9" name="Object 8"/>
          <p:cNvGraphicFramePr>
            <a:graphicFrameLocks noChangeAspect="1"/>
          </p:cNvGraphicFramePr>
          <p:nvPr>
            <p:extLst>
              <p:ext uri="{D42A27DB-BD31-4B8C-83A1-F6EECF244321}">
                <p14:modId xmlns:p14="http://schemas.microsoft.com/office/powerpoint/2010/main" val="3154262124"/>
              </p:ext>
            </p:extLst>
          </p:nvPr>
        </p:nvGraphicFramePr>
        <p:xfrm>
          <a:off x="4348089" y="4191000"/>
          <a:ext cx="2590800" cy="1524000"/>
        </p:xfrm>
        <a:graphic>
          <a:graphicData uri="http://schemas.openxmlformats.org/presentationml/2006/ole">
            <mc:AlternateContent xmlns:mc="http://schemas.openxmlformats.org/markup-compatibility/2006">
              <mc:Choice xmlns:v="urn:schemas-microsoft-com:vml" Requires="v">
                <p:oleObj spid="_x0000_s4202" name="Equation" r:id="rId7" imgW="1206500" imgH="838200" progId="Equation.3">
                  <p:embed/>
                </p:oleObj>
              </mc:Choice>
              <mc:Fallback>
                <p:oleObj name="Equation" r:id="rId7" imgW="1206500" imgH="8382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48089" y="4191000"/>
                        <a:ext cx="2590800" cy="1524000"/>
                      </a:xfrm>
                      <a:prstGeom prst="rect">
                        <a:avLst/>
                      </a:prstGeom>
                      <a:noFill/>
                    </p:spPr>
                  </p:pic>
                </p:oleObj>
              </mc:Fallback>
            </mc:AlternateContent>
          </a:graphicData>
        </a:graphic>
      </p:graphicFrame>
      <p:sp>
        <p:nvSpPr>
          <p:cNvPr id="10" name="Rectangle 7"/>
          <p:cNvSpPr>
            <a:spLocks noChangeArrowheads="1"/>
          </p:cNvSpPr>
          <p:nvPr/>
        </p:nvSpPr>
        <p:spPr bwMode="auto">
          <a:xfrm>
            <a:off x="2362200" y="5410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746551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8"/>
          <p:cNvSpPr>
            <a:spLocks noChangeArrowheads="1"/>
          </p:cNvSpPr>
          <p:nvPr/>
        </p:nvSpPr>
        <p:spPr bwMode="auto">
          <a:xfrm>
            <a:off x="1208063" y="5652701"/>
            <a:ext cx="27122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28650" algn="l"/>
              </a:tabLst>
              <a:defRPr>
                <a:solidFill>
                  <a:schemeClr val="tx1"/>
                </a:solidFill>
                <a:latin typeface="Arial" panose="020B0604020202020204" pitchFamily="34" charset="0"/>
              </a:defRPr>
            </a:lvl1pPr>
            <a:lvl2pPr eaLnBrk="0" fontAlgn="base" hangingPunct="0">
              <a:spcBef>
                <a:spcPct val="0"/>
              </a:spcBef>
              <a:spcAft>
                <a:spcPct val="0"/>
              </a:spcAft>
              <a:tabLst>
                <a:tab pos="628650" algn="l"/>
              </a:tabLst>
              <a:defRPr>
                <a:solidFill>
                  <a:schemeClr val="tx1"/>
                </a:solidFill>
                <a:latin typeface="Arial" panose="020B0604020202020204" pitchFamily="34" charset="0"/>
              </a:defRPr>
            </a:lvl2pPr>
            <a:lvl3pPr eaLnBrk="0" fontAlgn="base" hangingPunct="0">
              <a:spcBef>
                <a:spcPct val="0"/>
              </a:spcBef>
              <a:spcAft>
                <a:spcPct val="0"/>
              </a:spcAft>
              <a:tabLst>
                <a:tab pos="628650" algn="l"/>
              </a:tabLst>
              <a:defRPr>
                <a:solidFill>
                  <a:schemeClr val="tx1"/>
                </a:solidFill>
                <a:latin typeface="Arial" panose="020B0604020202020204" pitchFamily="34" charset="0"/>
              </a:defRPr>
            </a:lvl3pPr>
            <a:lvl4pPr eaLnBrk="0" fontAlgn="base" hangingPunct="0">
              <a:spcBef>
                <a:spcPct val="0"/>
              </a:spcBef>
              <a:spcAft>
                <a:spcPct val="0"/>
              </a:spcAft>
              <a:tabLst>
                <a:tab pos="628650" algn="l"/>
              </a:tabLst>
              <a:defRPr>
                <a:solidFill>
                  <a:schemeClr val="tx1"/>
                </a:solidFill>
                <a:latin typeface="Arial" panose="020B0604020202020204" pitchFamily="34" charset="0"/>
              </a:defRPr>
            </a:lvl4pPr>
            <a:lvl5pPr eaLnBrk="0" fontAlgn="base" hangingPunct="0">
              <a:spcBef>
                <a:spcPct val="0"/>
              </a:spcBef>
              <a:spcAft>
                <a:spcPct val="0"/>
              </a:spcAft>
              <a:tabLst>
                <a:tab pos="628650" algn="l"/>
              </a:tabLst>
              <a:defRPr>
                <a:solidFill>
                  <a:schemeClr val="tx1"/>
                </a:solidFill>
                <a:latin typeface="Arial" panose="020B0604020202020204" pitchFamily="34" charset="0"/>
              </a:defRPr>
            </a:lvl5pPr>
            <a:lvl6pPr eaLnBrk="0" fontAlgn="base" hangingPunct="0">
              <a:spcBef>
                <a:spcPct val="0"/>
              </a:spcBef>
              <a:spcAft>
                <a:spcPct val="0"/>
              </a:spcAft>
              <a:tabLst>
                <a:tab pos="628650" algn="l"/>
              </a:tabLst>
              <a:defRPr>
                <a:solidFill>
                  <a:schemeClr val="tx1"/>
                </a:solidFill>
                <a:latin typeface="Arial" panose="020B0604020202020204" pitchFamily="34" charset="0"/>
              </a:defRPr>
            </a:lvl6pPr>
            <a:lvl7pPr eaLnBrk="0" fontAlgn="base" hangingPunct="0">
              <a:spcBef>
                <a:spcPct val="0"/>
              </a:spcBef>
              <a:spcAft>
                <a:spcPct val="0"/>
              </a:spcAft>
              <a:tabLst>
                <a:tab pos="628650" algn="l"/>
              </a:tabLst>
              <a:defRPr>
                <a:solidFill>
                  <a:schemeClr val="tx1"/>
                </a:solidFill>
                <a:latin typeface="Arial" panose="020B0604020202020204" pitchFamily="34" charset="0"/>
              </a:defRPr>
            </a:lvl7pPr>
            <a:lvl8pPr eaLnBrk="0" fontAlgn="base" hangingPunct="0">
              <a:spcBef>
                <a:spcPct val="0"/>
              </a:spcBef>
              <a:spcAft>
                <a:spcPct val="0"/>
              </a:spcAft>
              <a:tabLst>
                <a:tab pos="628650" algn="l"/>
              </a:tabLst>
              <a:defRPr>
                <a:solidFill>
                  <a:schemeClr val="tx1"/>
                </a:solidFill>
                <a:latin typeface="Arial" panose="020B0604020202020204" pitchFamily="34" charset="0"/>
              </a:defRPr>
            </a:lvl8pPr>
            <a:lvl9pPr eaLnBrk="0" fontAlgn="base" hangingPunct="0">
              <a:spcBef>
                <a:spcPct val="0"/>
              </a:spcBef>
              <a:spcAft>
                <a:spcPct val="0"/>
              </a:spcAft>
              <a:tabLst>
                <a:tab pos="62865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628650" algn="l"/>
              </a:tabLst>
            </a:pPr>
            <a:r>
              <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  </a:t>
            </a:r>
            <a:endParaRPr kumimoji="0" lang="en-US" sz="1100" b="0" i="0" u="none" strike="noStrike" cap="none" normalizeH="0" baseline="0" dirty="0" smtClean="0">
              <a:ln>
                <a:noFill/>
              </a:ln>
              <a:solidFill>
                <a:schemeClr val="tx1"/>
              </a:solidFill>
              <a:effectLst/>
              <a:latin typeface="Arial" panose="020B0604020202020204" pitchFamily="34" charset="0"/>
            </a:endParaRPr>
          </a:p>
        </p:txBody>
      </p:sp>
      <p:sp>
        <p:nvSpPr>
          <p:cNvPr id="14" name="Rectangle 11"/>
          <p:cNvSpPr>
            <a:spLocks noChangeArrowheads="1"/>
          </p:cNvSpPr>
          <p:nvPr/>
        </p:nvSpPr>
        <p:spPr bwMode="auto">
          <a:xfrm>
            <a:off x="685800" y="42941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16"/>
          <p:cNvSpPr/>
          <p:nvPr/>
        </p:nvSpPr>
        <p:spPr>
          <a:xfrm>
            <a:off x="3256261" y="288335"/>
            <a:ext cx="2860078" cy="523220"/>
          </a:xfrm>
          <a:prstGeom prst="rect">
            <a:avLst/>
          </a:prstGeom>
        </p:spPr>
        <p:txBody>
          <a:bodyPr wrap="none">
            <a:spAutoFit/>
          </a:bodyPr>
          <a:lstStyle/>
          <a:p>
            <a:pPr algn="just"/>
            <a:r>
              <a:rPr lang="en-US" sz="2800" b="1" dirty="0">
                <a:latin typeface="Times New Roman" panose="02020603050405020304" pitchFamily="18" charset="0"/>
                <a:ea typeface="Times New Roman" panose="02020603050405020304" pitchFamily="18" charset="0"/>
              </a:rPr>
              <a:t>Geometric </a:t>
            </a:r>
            <a:r>
              <a:rPr lang="en-US" sz="2800" b="1" dirty="0" smtClean="0">
                <a:latin typeface="Times New Roman" panose="02020603050405020304" pitchFamily="18" charset="0"/>
                <a:ea typeface="Times New Roman" panose="02020603050405020304" pitchFamily="18" charset="0"/>
              </a:rPr>
              <a:t>mean</a:t>
            </a:r>
            <a:r>
              <a:rPr lang="en-US" b="1" dirty="0" smtClean="0">
                <a:latin typeface="Times New Roman" panose="02020603050405020304" pitchFamily="18" charset="0"/>
                <a:ea typeface="Times New Roman" panose="02020603050405020304" pitchFamily="18" charset="0"/>
              </a:rPr>
              <a:t> </a:t>
            </a:r>
            <a:endParaRPr lang="en-US" dirty="0">
              <a:effectLst/>
              <a:latin typeface="Times New Roman" panose="02020603050405020304" pitchFamily="18" charset="0"/>
              <a:ea typeface="Times New Roman" panose="02020603050405020304" pitchFamily="18" charset="0"/>
            </a:endParaRPr>
          </a:p>
        </p:txBody>
      </p:sp>
      <p:graphicFrame>
        <p:nvGraphicFramePr>
          <p:cNvPr id="18" name="Object 17"/>
          <p:cNvGraphicFramePr>
            <a:graphicFrameLocks noChangeAspect="1"/>
          </p:cNvGraphicFramePr>
          <p:nvPr>
            <p:extLst>
              <p:ext uri="{D42A27DB-BD31-4B8C-83A1-F6EECF244321}">
                <p14:modId xmlns:p14="http://schemas.microsoft.com/office/powerpoint/2010/main" val="2394728911"/>
              </p:ext>
            </p:extLst>
          </p:nvPr>
        </p:nvGraphicFramePr>
        <p:xfrm>
          <a:off x="4922497" y="4643258"/>
          <a:ext cx="200025" cy="371475"/>
        </p:xfrm>
        <a:graphic>
          <a:graphicData uri="http://schemas.openxmlformats.org/presentationml/2006/ole">
            <mc:AlternateContent xmlns:mc="http://schemas.openxmlformats.org/markup-compatibility/2006">
              <mc:Choice xmlns:v="urn:schemas-microsoft-com:vml" Requires="v">
                <p:oleObj spid="_x0000_s5272" name="Equation" r:id="rId3" imgW="203112" imgH="368140" progId="Equation.3">
                  <p:embed/>
                </p:oleObj>
              </mc:Choice>
              <mc:Fallback>
                <p:oleObj name="Equation" r:id="rId3" imgW="203112" imgH="368140" progId="Equation.3">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2497" y="4643258"/>
                        <a:ext cx="200025"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20"/>
          <p:cNvGraphicFramePr>
            <a:graphicFrameLocks noChangeAspect="1"/>
          </p:cNvGraphicFramePr>
          <p:nvPr>
            <p:extLst>
              <p:ext uri="{D42A27DB-BD31-4B8C-83A1-F6EECF244321}">
                <p14:modId xmlns:p14="http://schemas.microsoft.com/office/powerpoint/2010/main" val="1004711128"/>
              </p:ext>
            </p:extLst>
          </p:nvPr>
        </p:nvGraphicFramePr>
        <p:xfrm>
          <a:off x="643597" y="6173978"/>
          <a:ext cx="114300" cy="209550"/>
        </p:xfrm>
        <a:graphic>
          <a:graphicData uri="http://schemas.openxmlformats.org/presentationml/2006/ole">
            <mc:AlternateContent xmlns:mc="http://schemas.openxmlformats.org/markup-compatibility/2006">
              <mc:Choice xmlns:v="urn:schemas-microsoft-com:vml" Requires="v">
                <p:oleObj spid="_x0000_s5273" name="Equation" r:id="rId5" imgW="114151" imgH="215619" progId="Equation.3">
                  <p:embed/>
                </p:oleObj>
              </mc:Choice>
              <mc:Fallback>
                <p:oleObj name="Equation" r:id="rId5" imgW="114151" imgH="215619" progId="Equation.3">
                  <p:embed/>
                  <p:pic>
                    <p:nvPicPr>
                      <p:cNvPr id="0"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3597" y="6173978"/>
                        <a:ext cx="114300" cy="209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Rectangle 27"/>
          <p:cNvSpPr>
            <a:spLocks noChangeArrowheads="1"/>
          </p:cNvSpPr>
          <p:nvPr/>
        </p:nvSpPr>
        <p:spPr bwMode="auto">
          <a:xfrm>
            <a:off x="643597" y="617397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2" name="Rectangle 32"/>
          <p:cNvSpPr>
            <a:spLocks noChangeArrowheads="1"/>
          </p:cNvSpPr>
          <p:nvPr/>
        </p:nvSpPr>
        <p:spPr bwMode="auto">
          <a:xfrm>
            <a:off x="0" y="371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Arial" panose="020B0604020202020204" pitchFamily="34" charset="0"/>
              </a:rPr>
              <a:t> </a:t>
            </a:r>
            <a:endParaRPr kumimoji="0" lang="en-US" sz="1800" b="0" i="0" u="none" strike="noStrike" cap="none" normalizeH="0" baseline="0" smtClean="0">
              <a:ln>
                <a:noFill/>
              </a:ln>
              <a:solidFill>
                <a:schemeClr val="tx1"/>
              </a:solidFill>
              <a:effectLst/>
              <a:latin typeface="Arial" panose="020B0604020202020204" pitchFamily="34" charset="0"/>
            </a:endParaRPr>
          </a:p>
        </p:txBody>
      </p:sp>
      <p:pic>
        <p:nvPicPr>
          <p:cNvPr id="5235" name="Picture 1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800" y="811554"/>
            <a:ext cx="8001000" cy="5589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98998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Rectangle 10"/>
              <p:cNvSpPr/>
              <p:nvPr/>
            </p:nvSpPr>
            <p:spPr>
              <a:xfrm>
                <a:off x="609600" y="457200"/>
                <a:ext cx="8066314" cy="2074286"/>
              </a:xfrm>
              <a:prstGeom prst="rect">
                <a:avLst/>
              </a:prstGeom>
            </p:spPr>
            <p:txBody>
              <a:bodyPr wrap="square">
                <a:spAutoFit/>
              </a:bodyPr>
              <a:lstStyle/>
              <a:p>
                <a:pPr algn="ctr"/>
                <a:r>
                  <a:rPr lang="en-US" sz="2800" b="1" dirty="0">
                    <a:latin typeface="Times New Roman" panose="02020603050405020304" pitchFamily="18" charset="0"/>
                    <a:ea typeface="Times New Roman" panose="02020603050405020304" pitchFamily="18" charset="0"/>
                  </a:rPr>
                  <a:t>Harmonic </a:t>
                </a:r>
                <a:r>
                  <a:rPr lang="en-US" sz="2800" b="1" dirty="0" smtClean="0">
                    <a:latin typeface="Times New Roman" panose="02020603050405020304" pitchFamily="18" charset="0"/>
                    <a:ea typeface="Times New Roman" panose="02020603050405020304" pitchFamily="18" charset="0"/>
                  </a:rPr>
                  <a:t>mean</a:t>
                </a:r>
                <a:r>
                  <a:rPr lang="en-US" sz="2800" dirty="0" smtClean="0">
                    <a:effectLst/>
                    <a:latin typeface="Times New Roman" panose="02020603050405020304" pitchFamily="18" charset="0"/>
                    <a:ea typeface="Times New Roman" panose="02020603050405020304" pitchFamily="18" charset="0"/>
                  </a:rPr>
                  <a:t> </a:t>
                </a:r>
              </a:p>
              <a:p>
                <a:pPr algn="ctr"/>
                <a:endParaRPr lang="en-US" sz="2800" dirty="0" smtClean="0">
                  <a:effectLst/>
                  <a:latin typeface="Times New Roman" panose="02020603050405020304" pitchFamily="18" charset="0"/>
                  <a:ea typeface="Times New Roman" panose="02020603050405020304" pitchFamily="18" charset="0"/>
                </a:endParaRPr>
              </a:p>
              <a:p>
                <a:pPr algn="just"/>
                <a:r>
                  <a:rPr lang="en-US" dirty="0" smtClean="0">
                    <a:effectLst/>
                    <a:latin typeface="Times New Roman" panose="02020603050405020304" pitchFamily="18" charset="0"/>
                    <a:ea typeface="Times New Roman" panose="02020603050405020304" pitchFamily="18" charset="0"/>
                  </a:rPr>
                  <a:t>The </a:t>
                </a:r>
                <a:r>
                  <a:rPr lang="en-US" dirty="0">
                    <a:effectLst/>
                    <a:latin typeface="Times New Roman" panose="02020603050405020304" pitchFamily="18" charset="0"/>
                    <a:ea typeface="Times New Roman" panose="02020603050405020304" pitchFamily="18" charset="0"/>
                  </a:rPr>
                  <a:t>harmonic mean of a set of n non zero observations x</a:t>
                </a:r>
                <a:r>
                  <a:rPr lang="en-US" baseline="-25000" dirty="0">
                    <a:effectLst/>
                    <a:latin typeface="Times New Roman" panose="02020603050405020304" pitchFamily="18" charset="0"/>
                    <a:ea typeface="Times New Roman" panose="02020603050405020304" pitchFamily="18" charset="0"/>
                  </a:rPr>
                  <a:t>1</a:t>
                </a:r>
                <a:r>
                  <a:rPr lang="en-US" dirty="0">
                    <a:effectLst/>
                    <a:latin typeface="Times New Roman" panose="02020603050405020304" pitchFamily="18" charset="0"/>
                    <a:ea typeface="Times New Roman" panose="02020603050405020304" pitchFamily="18" charset="0"/>
                  </a:rPr>
                  <a:t>.x</a:t>
                </a:r>
                <a:r>
                  <a:rPr lang="en-US" baseline="-25000" dirty="0">
                    <a:effectLst/>
                    <a:latin typeface="Times New Roman" panose="02020603050405020304" pitchFamily="18" charset="0"/>
                    <a:ea typeface="Times New Roman" panose="02020603050405020304" pitchFamily="18" charset="0"/>
                  </a:rPr>
                  <a:t>2</a:t>
                </a:r>
                <a:r>
                  <a:rPr lang="en-US" dirty="0">
                    <a:effectLst/>
                    <a:latin typeface="Times New Roman" panose="02020603050405020304" pitchFamily="18" charset="0"/>
                    <a:ea typeface="Times New Roman" panose="02020603050405020304" pitchFamily="18" charset="0"/>
                  </a:rPr>
                  <a:t>………</a:t>
                </a:r>
                <a:r>
                  <a:rPr lang="en-US" dirty="0" err="1">
                    <a:effectLst/>
                    <a:latin typeface="Times New Roman" panose="02020603050405020304" pitchFamily="18" charset="0"/>
                    <a:ea typeface="Times New Roman" panose="02020603050405020304" pitchFamily="18" charset="0"/>
                  </a:rPr>
                  <a:t>x</a:t>
                </a:r>
                <a:r>
                  <a:rPr lang="en-US" baseline="-25000" dirty="0" err="1">
                    <a:effectLst/>
                    <a:latin typeface="Times New Roman" panose="02020603050405020304" pitchFamily="18" charset="0"/>
                    <a:ea typeface="Times New Roman" panose="02020603050405020304" pitchFamily="18" charset="0"/>
                  </a:rPr>
                  <a:t>n</a:t>
                </a:r>
                <a:r>
                  <a:rPr lang="en-US" baseline="-2500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in a series is the reciprocal of the arithmetic mean of the reciprocals.</a:t>
                </a:r>
              </a:p>
              <a:p>
                <a:r>
                  <a:rPr lang="en-US" dirty="0">
                    <a:effectLst/>
                    <a:latin typeface="Times New Roman" panose="02020603050405020304" pitchFamily="18" charset="0"/>
                    <a:ea typeface="Times New Roman" panose="02020603050405020304" pitchFamily="18" charset="0"/>
                  </a:rPr>
                  <a:t>For ungroup data, let </a:t>
                </a:r>
                <a14:m>
                  <m:oMath xmlns:m="http://schemas.openxmlformats.org/officeDocument/2006/math">
                    <m:sSub>
                      <m:sSubPr>
                        <m:ctrlPr>
                          <a:rPr lang="en-US" i="1">
                            <a:effectLst/>
                            <a:latin typeface="Cambria Math" panose="02040503050406030204" pitchFamily="18" charset="0"/>
                          </a:rPr>
                        </m:ctrlPr>
                      </m:sSubPr>
                      <m:e>
                        <m:r>
                          <a:rPr lang="en-US" i="1">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i="1">
                            <a:effectLst/>
                            <a:latin typeface="Cambria Math" panose="02040503050406030204" pitchFamily="18" charset="0"/>
                            <a:ea typeface="Times New Roman" panose="02020603050405020304" pitchFamily="18" charset="0"/>
                            <a:cs typeface="Times New Roman" panose="02020603050405020304" pitchFamily="18" charset="0"/>
                          </a:rPr>
                          <m:t>1,</m:t>
                        </m:r>
                      </m:sub>
                    </m:sSub>
                    <m:sSub>
                      <m:sSubPr>
                        <m:ctrlPr>
                          <a:rPr lang="en-US" i="1">
                            <a:effectLst/>
                            <a:latin typeface="Cambria Math" panose="02040503050406030204" pitchFamily="18" charset="0"/>
                          </a:rPr>
                        </m:ctrlPr>
                      </m:sSubPr>
                      <m:e>
                        <m:r>
                          <a:rPr lang="en-US" i="1">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i="1">
                            <a:effectLst/>
                            <a:latin typeface="Cambria Math" panose="02040503050406030204" pitchFamily="18" charset="0"/>
                            <a:ea typeface="Times New Roman" panose="02020603050405020304" pitchFamily="18" charset="0"/>
                            <a:cs typeface="Times New Roman" panose="02020603050405020304" pitchFamily="18" charset="0"/>
                          </a:rPr>
                          <m:t>2,</m:t>
                        </m:r>
                      </m:sub>
                    </m:sSub>
                    <m:sSub>
                      <m:sSubPr>
                        <m:ctrlPr>
                          <a:rPr lang="en-US" i="1">
                            <a:effectLst/>
                            <a:latin typeface="Cambria Math" panose="02040503050406030204" pitchFamily="18" charset="0"/>
                          </a:rPr>
                        </m:ctrlPr>
                      </m:sSubPr>
                      <m:e>
                        <m:r>
                          <a:rPr lang="en-US" i="1">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i="1">
                            <a:effectLst/>
                            <a:latin typeface="Cambria Math" panose="02040503050406030204" pitchFamily="18" charset="0"/>
                            <a:ea typeface="Times New Roman" panose="02020603050405020304" pitchFamily="18" charset="0"/>
                            <a:cs typeface="Times New Roman" panose="02020603050405020304" pitchFamily="18" charset="0"/>
                          </a:rPr>
                          <m:t>3,</m:t>
                        </m:r>
                      </m:sub>
                    </m:sSub>
                  </m:oMath>
                </a14:m>
                <a:r>
                  <a:rPr lang="en-US" dirty="0">
                    <a:effectLst/>
                    <a:latin typeface="Times New Roman" panose="02020603050405020304" pitchFamily="18" charset="0"/>
                    <a:ea typeface="Times New Roman" panose="02020603050405020304" pitchFamily="18" charset="0"/>
                  </a:rPr>
                  <a:t>… … …,</a:t>
                </a:r>
                <a14:m>
                  <m:oMath xmlns:m="http://schemas.openxmlformats.org/officeDocument/2006/math">
                    <m:sSub>
                      <m:sSubPr>
                        <m:ctrlPr>
                          <a:rPr lang="en-US" i="1">
                            <a:effectLst/>
                            <a:latin typeface="Cambria Math" panose="02040503050406030204" pitchFamily="18" charset="0"/>
                          </a:rPr>
                        </m:ctrlPr>
                      </m:sSubPr>
                      <m:e>
                        <m:r>
                          <a:rPr lang="en-US" i="1">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i="1">
                            <a:effectLst/>
                            <a:latin typeface="Cambria Math" panose="02040503050406030204" pitchFamily="18" charset="0"/>
                            <a:ea typeface="Times New Roman" panose="02020603050405020304" pitchFamily="18" charset="0"/>
                            <a:cs typeface="Times New Roman" panose="02020603050405020304" pitchFamily="18" charset="0"/>
                          </a:rPr>
                          <m:t>𝑛</m:t>
                        </m:r>
                      </m:sub>
                    </m:sSub>
                  </m:oMath>
                </a14:m>
                <a:r>
                  <a:rPr lang="en-US" dirty="0">
                    <a:effectLst/>
                    <a:latin typeface="Times New Roman" panose="02020603050405020304" pitchFamily="18" charset="0"/>
                    <a:ea typeface="Times New Roman" panose="02020603050405020304" pitchFamily="18" charset="0"/>
                  </a:rPr>
                  <a:t> be the series of n observations in any statistical investigation</a:t>
                </a:r>
                <a:endParaRPr lang="en-US" dirty="0"/>
              </a:p>
            </p:txBody>
          </p:sp>
        </mc:Choice>
        <mc:Fallback xmlns="">
          <p:sp>
            <p:nvSpPr>
              <p:cNvPr id="11" name="Rectangle 10"/>
              <p:cNvSpPr>
                <a:spLocks noRot="1" noChangeAspect="1" noMove="1" noResize="1" noEditPoints="1" noAdjustHandles="1" noChangeArrowheads="1" noChangeShapeType="1" noTextEdit="1"/>
              </p:cNvSpPr>
              <p:nvPr/>
            </p:nvSpPr>
            <p:spPr>
              <a:xfrm>
                <a:off x="609600" y="457200"/>
                <a:ext cx="8066314" cy="2074286"/>
              </a:xfrm>
              <a:prstGeom prst="rect">
                <a:avLst/>
              </a:prstGeom>
              <a:blipFill rotWithShape="1">
                <a:blip r:embed="rId3"/>
                <a:stretch>
                  <a:fillRect l="-605" t="-2941" r="-1285" b="-3824"/>
                </a:stretch>
              </a:blipFill>
            </p:spPr>
            <p:txBody>
              <a:bodyPr/>
              <a:lstStyle/>
              <a:p>
                <a:r>
                  <a:rPr lang="en-US">
                    <a:noFill/>
                  </a:rPr>
                  <a:t> </a:t>
                </a:r>
              </a:p>
            </p:txBody>
          </p:sp>
        </mc:Fallback>
      </mc:AlternateContent>
      <p:graphicFrame>
        <p:nvGraphicFramePr>
          <p:cNvPr id="12" name="Object 11"/>
          <p:cNvGraphicFramePr>
            <a:graphicFrameLocks noChangeAspect="1"/>
          </p:cNvGraphicFramePr>
          <p:nvPr>
            <p:extLst>
              <p:ext uri="{D42A27DB-BD31-4B8C-83A1-F6EECF244321}">
                <p14:modId xmlns:p14="http://schemas.microsoft.com/office/powerpoint/2010/main" val="220076375"/>
              </p:ext>
            </p:extLst>
          </p:nvPr>
        </p:nvGraphicFramePr>
        <p:xfrm>
          <a:off x="3861707" y="2527857"/>
          <a:ext cx="1562100" cy="936332"/>
        </p:xfrm>
        <a:graphic>
          <a:graphicData uri="http://schemas.openxmlformats.org/presentationml/2006/ole">
            <mc:AlternateContent xmlns:mc="http://schemas.openxmlformats.org/markup-compatibility/2006">
              <mc:Choice xmlns:v="urn:schemas-microsoft-com:vml" Requires="v">
                <p:oleObj spid="_x0000_s7317" name="Equation" r:id="rId4" imgW="1562100" imgH="635000" progId="Equation.3">
                  <p:embed/>
                </p:oleObj>
              </mc:Choice>
              <mc:Fallback>
                <p:oleObj name="Equation" r:id="rId4" imgW="1562100" imgH="635000"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61707" y="2527857"/>
                        <a:ext cx="1562100" cy="936332"/>
                      </a:xfrm>
                      <a:prstGeom prst="rect">
                        <a:avLst/>
                      </a:prstGeom>
                      <a:noFill/>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2948449548"/>
              </p:ext>
            </p:extLst>
          </p:nvPr>
        </p:nvGraphicFramePr>
        <p:xfrm>
          <a:off x="5791200" y="2531486"/>
          <a:ext cx="1162050" cy="966142"/>
        </p:xfrm>
        <a:graphic>
          <a:graphicData uri="http://schemas.openxmlformats.org/presentationml/2006/ole">
            <mc:AlternateContent xmlns:mc="http://schemas.openxmlformats.org/markup-compatibility/2006">
              <mc:Choice xmlns:v="urn:schemas-microsoft-com:vml" Requires="v">
                <p:oleObj spid="_x0000_s7318" name="Equation" r:id="rId6" imgW="393529" imgH="660113" progId="Equation.3">
                  <p:embed/>
                </p:oleObj>
              </mc:Choice>
              <mc:Fallback>
                <p:oleObj name="Equation" r:id="rId6" imgW="393529" imgH="660113"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91200" y="2531486"/>
                        <a:ext cx="1162050" cy="966142"/>
                      </a:xfrm>
                      <a:prstGeom prst="rect">
                        <a:avLst/>
                      </a:prstGeom>
                      <a:noFill/>
                    </p:spPr>
                  </p:pic>
                </p:oleObj>
              </mc:Fallback>
            </mc:AlternateContent>
          </a:graphicData>
        </a:graphic>
      </p:graphicFrame>
      <p:sp>
        <p:nvSpPr>
          <p:cNvPr id="14" name="Rectangle 10"/>
          <p:cNvSpPr>
            <a:spLocks noChangeArrowheads="1"/>
          </p:cNvSpPr>
          <p:nvPr/>
        </p:nvSpPr>
        <p:spPr bwMode="auto">
          <a:xfrm>
            <a:off x="990600" y="2650123"/>
            <a:ext cx="60198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Thus, Harmonic Mean = </a:t>
            </a:r>
            <a:endParaRPr kumimoji="0" 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15" name="Rectangle 11"/>
          <p:cNvSpPr>
            <a:spLocks noChangeArrowheads="1"/>
          </p:cNvSpPr>
          <p:nvPr/>
        </p:nvSpPr>
        <p:spPr bwMode="auto">
          <a:xfrm>
            <a:off x="5493657" y="2819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 = </a:t>
            </a: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graphicFrame>
        <p:nvGraphicFramePr>
          <p:cNvPr id="17" name="Object 16"/>
          <p:cNvGraphicFramePr>
            <a:graphicFrameLocks noChangeAspect="1"/>
          </p:cNvGraphicFramePr>
          <p:nvPr>
            <p:extLst>
              <p:ext uri="{D42A27DB-BD31-4B8C-83A1-F6EECF244321}">
                <p14:modId xmlns:p14="http://schemas.microsoft.com/office/powerpoint/2010/main" val="1709368470"/>
              </p:ext>
            </p:extLst>
          </p:nvPr>
        </p:nvGraphicFramePr>
        <p:xfrm>
          <a:off x="3009900" y="4800600"/>
          <a:ext cx="1485900" cy="600075"/>
        </p:xfrm>
        <a:graphic>
          <a:graphicData uri="http://schemas.openxmlformats.org/presentationml/2006/ole">
            <mc:AlternateContent xmlns:mc="http://schemas.openxmlformats.org/markup-compatibility/2006">
              <mc:Choice xmlns:v="urn:schemas-microsoft-com:vml" Requires="v">
                <p:oleObj spid="_x0000_s7319" name="Equation" r:id="rId8" imgW="1485900" imgH="596900" progId="Equation.3">
                  <p:embed/>
                </p:oleObj>
              </mc:Choice>
              <mc:Fallback>
                <p:oleObj name="Equation" r:id="rId8" imgW="1485900" imgH="596900" progId="Equation.3">
                  <p:embed/>
                  <p:pic>
                    <p:nvPicPr>
                      <p:cNvPr id="0" name="Object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09900" y="4800600"/>
                        <a:ext cx="1485900" cy="600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7"/>
          <p:cNvGraphicFramePr>
            <a:graphicFrameLocks noChangeAspect="1"/>
          </p:cNvGraphicFramePr>
          <p:nvPr>
            <p:extLst>
              <p:ext uri="{D42A27DB-BD31-4B8C-83A1-F6EECF244321}">
                <p14:modId xmlns:p14="http://schemas.microsoft.com/office/powerpoint/2010/main" val="3613052316"/>
              </p:ext>
            </p:extLst>
          </p:nvPr>
        </p:nvGraphicFramePr>
        <p:xfrm>
          <a:off x="5085442" y="4847771"/>
          <a:ext cx="705757" cy="562429"/>
        </p:xfrm>
        <a:graphic>
          <a:graphicData uri="http://schemas.openxmlformats.org/presentationml/2006/ole">
            <mc:AlternateContent xmlns:mc="http://schemas.openxmlformats.org/markup-compatibility/2006">
              <mc:Choice xmlns:v="urn:schemas-microsoft-com:vml" Requires="v">
                <p:oleObj spid="_x0000_s7320" name="Equation" r:id="rId10" imgW="495085" imgH="393529" progId="Equation.3">
                  <p:embed/>
                </p:oleObj>
              </mc:Choice>
              <mc:Fallback>
                <p:oleObj name="Equation" r:id="rId10" imgW="495085" imgH="393529" progId="Equation.3">
                  <p:embed/>
                  <p:pic>
                    <p:nvPicPr>
                      <p:cNvPr id="0" name="Object 2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85442" y="4847771"/>
                        <a:ext cx="705757" cy="562429"/>
                      </a:xfrm>
                      <a:prstGeom prst="rect">
                        <a:avLst/>
                      </a:prstGeom>
                      <a:noFill/>
                      <a:extLst/>
                    </p:spPr>
                  </p:pic>
                </p:oleObj>
              </mc:Fallback>
            </mc:AlternateContent>
          </a:graphicData>
        </a:graphic>
      </p:graphicFrame>
      <p:sp>
        <p:nvSpPr>
          <p:cNvPr id="19" name="Rectangle 24"/>
          <p:cNvSpPr>
            <a:spLocks noChangeArrowheads="1"/>
          </p:cNvSpPr>
          <p:nvPr/>
        </p:nvSpPr>
        <p:spPr bwMode="auto">
          <a:xfrm>
            <a:off x="914400" y="3398222"/>
            <a:ext cx="7162800" cy="216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Find the harmonic mean of the following data 8, 9, 6, 11, 10, 5</a:t>
            </a:r>
            <a:br>
              <a:rPr kumimoji="0" lang="en-US"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endParaRPr kumimoji="0" lang="en-US"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kumimoji="0" lang="en-US"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Solution: </a:t>
            </a:r>
            <a:r>
              <a:rPr lang="en-US" dirty="0">
                <a:latin typeface="Times New Roman" panose="02020603050405020304" pitchFamily="18" charset="0"/>
                <a:ea typeface="Times New Roman" panose="02020603050405020304" pitchFamily="18" charset="0"/>
                <a:cs typeface="Times New Roman" panose="02020603050405020304" pitchFamily="18" charset="0"/>
              </a:rPr>
              <a:t>Given data: 8, 9, 6, 11, 10, 5</a:t>
            </a:r>
            <a:r>
              <a:rPr lang="en-US" sz="1100" dirty="0" smtClean="0">
                <a:latin typeface="Arial" panose="020B0604020202020204" pitchFamily="34" charset="0"/>
                <a:ea typeface="Times New Roman" panose="02020603050405020304" pitchFamily="18" charset="0"/>
              </a:rPr>
              <a:t>.</a:t>
            </a:r>
          </a:p>
          <a:p>
            <a:pPr lvl="0" eaLnBrk="0" fontAlgn="base" hangingPunct="0">
              <a:spcBef>
                <a:spcPct val="0"/>
              </a:spcBef>
              <a:spcAft>
                <a:spcPct val="0"/>
              </a:spcAft>
            </a:pPr>
            <a:endParaRPr kumimoji="0" lang="en-US" sz="1100" b="0" i="0" u="none" strike="noStrike" cap="none" normalizeH="0" baseline="0" dirty="0" smtClean="0">
              <a:ln>
                <a:noFill/>
              </a:ln>
              <a:solidFill>
                <a:schemeClr val="tx1"/>
              </a:solidFill>
              <a:effectLst/>
              <a:latin typeface="Arial" panose="020B0604020202020204" pitchFamily="34" charset="0"/>
            </a:endParaRPr>
          </a:p>
          <a:p>
            <a:pPr eaLnBrk="0" fontAlgn="base" hangingPunct="0">
              <a:spcBef>
                <a:spcPct val="0"/>
              </a:spcBef>
              <a:spcAft>
                <a:spcPct val="0"/>
              </a:spcAft>
            </a:pPr>
            <a:r>
              <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 </a:t>
            </a:r>
            <a:br>
              <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br>
            <a:r>
              <a:rPr lang="en-US" sz="1600" dirty="0" smtClean="0">
                <a:latin typeface="Arial" panose="020B0604020202020204" pitchFamily="34" charset="0"/>
                <a:ea typeface="Times New Roman" panose="02020603050405020304" pitchFamily="18" charset="0"/>
              </a:rPr>
              <a:t>So </a:t>
            </a:r>
            <a:r>
              <a:rPr lang="en-US" sz="1600" dirty="0">
                <a:latin typeface="Arial" panose="020B0604020202020204" pitchFamily="34" charset="0"/>
                <a:ea typeface="Times New Roman" panose="02020603050405020304" pitchFamily="18" charset="0"/>
              </a:rPr>
              <a:t>Harmonic mean = </a:t>
            </a:r>
            <a:endParaRPr lang="en-US" sz="16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
            </a:r>
            <a:br>
              <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br>
            <a:r>
              <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    </a:t>
            </a: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20" name="Rectangle 25"/>
          <p:cNvSpPr>
            <a:spLocks noChangeArrowheads="1"/>
          </p:cNvSpPr>
          <p:nvPr/>
        </p:nvSpPr>
        <p:spPr bwMode="auto">
          <a:xfrm>
            <a:off x="4682671" y="4846023"/>
            <a:ext cx="577215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 </a:t>
            </a:r>
            <a:endParaRPr kumimoji="0" lang="en-US" sz="1600" b="0" i="0" u="none" strike="noStrike" cap="none" normalizeH="0" baseline="0" dirty="0" smtClean="0">
              <a:ln>
                <a:noFill/>
              </a:ln>
              <a:solidFill>
                <a:schemeClr val="tx1"/>
              </a:solidFill>
              <a:effectLst/>
              <a:latin typeface="Arial" panose="020B0604020202020204" pitchFamily="34" charset="0"/>
            </a:endParaRPr>
          </a:p>
        </p:txBody>
      </p:sp>
      <p:sp>
        <p:nvSpPr>
          <p:cNvPr id="21" name="Rectangle 26"/>
          <p:cNvSpPr>
            <a:spLocks noChangeArrowheads="1"/>
          </p:cNvSpPr>
          <p:nvPr/>
        </p:nvSpPr>
        <p:spPr bwMode="auto">
          <a:xfrm>
            <a:off x="5867400" y="4969133"/>
            <a:ext cx="8839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 = 7.560 </a:t>
            </a:r>
            <a:endParaRPr kumimoji="0" 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259373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04800"/>
            <a:ext cx="8001000" cy="617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36558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28600"/>
            <a:ext cx="7619999" cy="6248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92882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52400"/>
            <a:ext cx="7543800" cy="6248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97153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04800"/>
            <a:ext cx="79248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581400"/>
            <a:ext cx="76200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09535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4"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533400"/>
            <a:ext cx="8153399" cy="5791200"/>
          </a:xfrm>
          <a:prstGeom prst="rect">
            <a:avLst/>
          </a:prstGeom>
          <a:solidFill>
            <a:schemeClr val="accent1">
              <a:lumMod val="20000"/>
              <a:lumOff val="80000"/>
            </a:schemeClr>
          </a:solidFill>
          <a:ln>
            <a:noFill/>
          </a:ln>
          <a:effectLst/>
        </p:spPr>
      </p:pic>
    </p:spTree>
    <p:extLst>
      <p:ext uri="{BB962C8B-B14F-4D97-AF65-F5344CB8AC3E}">
        <p14:creationId xmlns:p14="http://schemas.microsoft.com/office/powerpoint/2010/main" val="40110721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762000" y="228600"/>
            <a:ext cx="7467600" cy="490888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7" name="Picture 6"/>
          <p:cNvPicPr>
            <a:picLocks noChangeAspect="1"/>
          </p:cNvPicPr>
          <p:nvPr/>
        </p:nvPicPr>
        <p:blipFill>
          <a:blip r:embed="rId3"/>
          <a:stretch>
            <a:fillRect/>
          </a:stretch>
        </p:blipFill>
        <p:spPr>
          <a:xfrm>
            <a:off x="2133600" y="5137484"/>
            <a:ext cx="4953000" cy="1685925"/>
          </a:xfrm>
          <a:prstGeom prst="rect">
            <a:avLst/>
          </a:prstGeom>
        </p:spPr>
      </p:pic>
    </p:spTree>
    <p:extLst>
      <p:ext uri="{BB962C8B-B14F-4D97-AF65-F5344CB8AC3E}">
        <p14:creationId xmlns:p14="http://schemas.microsoft.com/office/powerpoint/2010/main" val="1059127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71600" y="381000"/>
            <a:ext cx="6934200" cy="617220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610523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828800" y="457200"/>
            <a:ext cx="5562600" cy="6172200"/>
          </a:xfrm>
          <a:prstGeom prst="rect">
            <a:avLst/>
          </a:prstGeom>
        </p:spPr>
      </p:pic>
    </p:spTree>
    <p:extLst>
      <p:ext uri="{BB962C8B-B14F-4D97-AF65-F5344CB8AC3E}">
        <p14:creationId xmlns:p14="http://schemas.microsoft.com/office/powerpoint/2010/main" val="21179916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415</TotalTime>
  <Words>253</Words>
  <Application>Microsoft Office PowerPoint</Application>
  <PresentationFormat>On-screen Show (4:3)</PresentationFormat>
  <Paragraphs>96</Paragraphs>
  <Slides>16</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3" baseType="lpstr">
      <vt:lpstr>Arial</vt:lpstr>
      <vt:lpstr>Calibri</vt:lpstr>
      <vt:lpstr>Cambria Math</vt:lpstr>
      <vt:lpstr>Symbol</vt:lpstr>
      <vt:lpstr>Times New Roman</vt: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by adguard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Parhin</dc:creator>
  <cp:lastModifiedBy>Mr. Manju</cp:lastModifiedBy>
  <cp:revision>172</cp:revision>
  <dcterms:created xsi:type="dcterms:W3CDTF">2018-03-17T06:15:10Z</dcterms:created>
  <dcterms:modified xsi:type="dcterms:W3CDTF">2026-09-08T02:20:06Z</dcterms:modified>
</cp:coreProperties>
</file>